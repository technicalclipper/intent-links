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3" r:id="rId13"/>
    <p:sldId id="264" r:id="rId14"/>
    <p:sldId id="266" r:id="rId16"/>
    <p:sldId id="267" r:id="rId17"/>
    <p:sldId id="268" r:id="rId18"/>
    <p:sldId id="269" r:id="rId19"/>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slide" Target="slides/slide9.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hyperlink" Target="https://github.com/technicalclipper/Intent-Links" TargetMode="External"/><Relationship Id="rId6" Type="http://schemas.openxmlformats.org/officeDocument/2006/relationships/hyperlink" Target="https://intentlink-api-938318821120.asia-south1.run.ap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b="0" i="0">
                <a:solidFill>
                  <a:srgbClr val="1E2228"/>
                </a:solidFill>
                <a:latin typeface="Google Sans Flex SemiBold"/>
                <a:ea typeface="Google Sans Flex SemiBold"/>
                <a:cs typeface="Google Sans Flex SemiBold"/>
                <a:sym typeface="Google Sans Flex SemiBold"/>
              </a:rPr>
              <a:t>Team name: </a:t>
            </a:r>
            <a:r>
              <a:rPr lang="en-GB" sz="1800" b="0" i="0">
                <a:solidFill>
                  <a:srgbClr val="1E2228"/>
                </a:solidFill>
                <a:latin typeface="Google Sans Flex"/>
                <a:ea typeface="Google Sans Flex"/>
                <a:cs typeface="Google Sans Flex"/>
                <a:sym typeface="Google Sans Flex"/>
              </a:rPr>
              <a:t>AP-ICE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b="0" i="0">
                <a:solidFill>
                  <a:srgbClr val="1E2228"/>
                </a:solidFill>
                <a:latin typeface="Google Sans Flex SemiBold"/>
                <a:ea typeface="Google Sans Flex SemiBold"/>
                <a:cs typeface="Google Sans Flex SemiBold"/>
                <a:sym typeface="Google Sans Flex SemiBold"/>
              </a:rPr>
              <a:t>Team leader name: </a:t>
            </a:r>
            <a:r>
              <a:rPr lang="en-GB" sz="1800" b="0" i="0">
                <a:solidFill>
                  <a:srgbClr val="1E2228"/>
                </a:solidFill>
                <a:latin typeface="Google Sans Flex"/>
                <a:ea typeface="Google Sans Flex"/>
                <a:cs typeface="Google Sans Flex"/>
                <a:sym typeface="Google Sans Flex"/>
              </a:rPr>
              <a:t>ADAIKAL SUSAN BESCHI J I</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b="0" i="0">
                <a:solidFill>
                  <a:srgbClr val="1E2228"/>
                </a:solidFill>
                <a:latin typeface="Google Sans Flex SemiBold"/>
                <a:ea typeface="Google Sans Flex SemiBold"/>
                <a:cs typeface="Google Sans Flex SemiBold"/>
                <a:sym typeface="Google Sans Flex SemiBold"/>
              </a:rPr>
              <a:t>Problem Statement: </a:t>
            </a:r>
            <a:r>
              <a:rPr lang="en-GB" sz="1800" b="0" i="0">
                <a:solidFill>
                  <a:srgbClr val="1E2228"/>
                </a:solidFill>
                <a:latin typeface="Google Sans Flex"/>
                <a:ea typeface="Google Sans Flex"/>
                <a:cs typeface="Google Sans Flex"/>
                <a:sym typeface="Google Sans Flex"/>
              </a:rPr>
              <a:t>Future of Work &amp; Enterprise Productivity</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03504"/>
            <a:ext cx="8943000"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b="0" i="0">
                <a:solidFill>
                  <a:srgbClr val="1E2228"/>
                </a:solidFill>
                <a:latin typeface="Google Sans Flex SemiBold"/>
                <a:ea typeface="Google Sans Flex SemiBold"/>
                <a:cs typeface="Google Sans Flex SemiBold"/>
                <a:sym typeface="Google Sans Flex SemiBold"/>
              </a:rPr>
              <a:t>Brief about the idea</a:t>
            </a:r>
            <a:endParaRPr sz="1600">
              <a:latin typeface="Google Sans Flex Medium"/>
              <a:ea typeface="Google Sans Flex Medium"/>
              <a:cs typeface="Google Sans Flex Medium"/>
              <a:sym typeface="Google Sans Flex Medium"/>
            </a:endParaRPr>
          </a:p>
        </p:txBody>
      </p:sp>
      <p:sp>
        <p:nvSpPr>
          <p:cNvPr id="72" name="brief text"/>
          <p:cNvSpPr txBox="1"/>
          <p:nvPr/>
        </p:nvSpPr>
        <p:spPr>
          <a:xfrm>
            <a:off x="384048" y="1078992"/>
            <a:ext cx="4160520" cy="3566160"/>
          </a:xfrm>
          <a:prstGeom prst="rect">
            <a:avLst/>
          </a:prstGeom>
          <a:noFill/>
        </p:spPr>
        <p:txBody>
          <a:bodyPr wrap="square" lIns="0" rIns="0" tIns="0" bIns="0" anchor="t"/>
          <a:lstStyle/>
          <a:p>
            <a:pPr algn="l">
              <a:lnSpc>
                <a:spcPct val="100000"/>
              </a:lnSpc>
              <a:spcAft>
                <a:spcPts val="1400"/>
              </a:spcAft>
            </a:pPr>
            <a:r>
              <a:rPr sz="2600" b="0" i="0">
                <a:solidFill>
                  <a:srgbClr val="1E2228"/>
                </a:solidFill>
                <a:latin typeface="Google Sans Flex SemiBold"/>
                <a:ea typeface="Google Sans Flex SemiBold"/>
                <a:cs typeface="Google Sans Flex SemiBold"/>
                <a:sym typeface="Google Sans Flex SemiBold"/>
              </a:rPr>
              <a:t>Do a task once.</a:t>
            </a:r>
            <a:r>
              <a:rPr sz="2600" b="0" i="0">
                <a:solidFill>
                  <a:srgbClr val="1E2228"/>
                </a:solidFill>
                <a:latin typeface="Google Sans Flex"/>
                <a:ea typeface="Google Sans Flex"/>
                <a:cs typeface="Google Sans Flex"/>
                <a:sym typeface="Google Sans Flex"/>
              </a:rPr>
              <a:t>
</a:t>
            </a:r>
            <a:r>
              <a:rPr sz="2600" b="0" i="0">
                <a:solidFill>
                  <a:srgbClr val="5B6270"/>
                </a:solidFill>
                <a:latin typeface="Google Sans Flex SemiBold"/>
                <a:ea typeface="Google Sans Flex SemiBold"/>
                <a:cs typeface="Google Sans Flex SemiBold"/>
                <a:sym typeface="Google Sans Flex SemiBold"/>
              </a:rPr>
              <a:t>Send it as a link.</a:t>
            </a:r>
          </a:p>
          <a:p>
            <a:pPr algn="l">
              <a:lnSpc>
                <a:spcPct val="115000"/>
              </a:lnSpc>
              <a:spcAft>
                <a:spcPts val="1000"/>
              </a:spcAft>
            </a:pPr>
            <a:r>
              <a:rPr sz="1250" b="0" i="0">
                <a:solidFill>
                  <a:srgbClr val="1E2228"/>
                </a:solidFill>
                <a:latin typeface="Google Sans Flex"/>
                <a:ea typeface="Google Sans Flex"/>
                <a:cs typeface="Google Sans Flex"/>
                <a:sym typeface="Google Sans Flex"/>
              </a:rPr>
              <a:t>IntentLink is a Chrome extension that records a task you do in any web app and turns it into a shareable link. Whoever opens the link has their own AI agent do the same task in their own browser, signed in as them.</a:t>
            </a:r>
          </a:p>
          <a:p>
            <a:pPr algn="l">
              <a:lnSpc>
                <a:spcPct val="115000"/>
              </a:lnSpc>
              <a:spcAft>
                <a:spcPts val="1400"/>
              </a:spcAft>
            </a:pPr>
            <a:r>
              <a:rPr sz="1250" b="0" i="0">
                <a:solidFill>
                  <a:srgbClr val="1E2228"/>
                </a:solidFill>
                <a:latin typeface="Google Sans Flex"/>
                <a:ea typeface="Google Sans Flex"/>
                <a:cs typeface="Google Sans Flex"/>
                <a:sym typeface="Google Sans Flex"/>
              </a:rPr>
              <a:t>The creator writes the limits in plain English. Gemini turns them into rules, and a policy engine outside the model checks every action before it happens.</a:t>
            </a:r>
          </a:p>
          <a:p>
            <a:pPr algn="l"/>
            <a:r>
              <a:rPr sz="1300" b="0" i="1">
                <a:solidFill>
                  <a:srgbClr val="0B8F6E"/>
                </a:solidFill>
                <a:latin typeface="Google Sans Flex SemiBold"/>
                <a:ea typeface="Google Sans Flex SemiBold"/>
                <a:cs typeface="Google Sans Flex SemiBold"/>
                <a:sym typeface="Google Sans Flex SemiBold"/>
              </a:rPr>
              <a:t>Don’t send instructions. Send the intent.</a:t>
            </a:r>
          </a:p>
        </p:txBody>
      </p:sp>
      <p:sp>
        <p:nvSpPr>
          <p:cNvPr id="73" name="brief card"/>
          <p:cNvSpPr/>
          <p:nvPr/>
        </p:nvSpPr>
        <p:spPr>
          <a:xfrm>
            <a:off x="4800600" y="1078992"/>
            <a:ext cx="3959352" cy="3611880"/>
          </a:xfrm>
          <a:prstGeom prst="roundRect">
            <a:avLst>
              <a:gd name="adj" fmla="val 5000"/>
            </a:avLst>
          </a:prstGeom>
          <a:solidFill>
            <a:srgbClr val="0D0F13"/>
          </a:solidFill>
          <a:ln>
            <a:noFill/>
          </a:ln>
        </p:spPr>
        <p:txBody>
          <a:bodyPr rtlCol="0" anchor="ctr"/>
          <a:lstStyle/>
          <a:p/>
        </p:txBody>
      </p:sp>
      <p:cxnSp>
        <p:nvCxnSpPr>
          <p:cNvPr id="74" name="brief chain"/>
          <p:cNvCxnSpPr/>
          <p:nvPr/>
        </p:nvCxnSpPr>
        <p:spPr>
          <a:xfrm>
            <a:off x="5212080" y="1764792"/>
            <a:ext cx="0" cy="2194560"/>
          </a:xfrm>
          <a:prstGeom prst="line">
            <a:avLst/>
          </a:prstGeom>
          <a:ln w="19050">
            <a:solidFill>
              <a:srgbClr val="2A2F38"/>
            </a:solidFill>
          </a:ln>
        </p:spPr>
        <p:style>
          <a:lnRef idx="2">
            <a:schemeClr val="accent1"/>
          </a:lnRef>
          <a:fillRef idx="0">
            <a:schemeClr val="accent1"/>
          </a:fillRef>
          <a:effectRef idx="1">
            <a:schemeClr val="accent1"/>
          </a:effectRef>
          <a:fontRef idx="minor">
            <a:schemeClr val="tx1"/>
          </a:fontRef>
        </p:style>
      </p:cxnSp>
      <p:sp>
        <p:nvSpPr>
          <p:cNvPr id="75" name="brief node 01"/>
          <p:cNvSpPr/>
          <p:nvPr/>
        </p:nvSpPr>
        <p:spPr>
          <a:xfrm>
            <a:off x="5047488" y="1600200"/>
            <a:ext cx="329184" cy="329184"/>
          </a:xfrm>
          <a:prstGeom prst="ellipse">
            <a:avLst/>
          </a:prstGeom>
          <a:solidFill>
            <a:srgbClr val="FFFFFF"/>
          </a:solidFill>
          <a:ln>
            <a:noFill/>
          </a:ln>
        </p:spPr>
        <p:txBody>
          <a:bodyPr rtlCol="0" anchor="ctr" lIns="0" rIns="0" tIns="0" bIns="0"/>
          <a:lstStyle/>
          <a:p>
            <a:pPr algn="ctr"/>
            <a:r>
              <a:rPr sz="800" b="1" i="0">
                <a:solidFill>
                  <a:srgbClr val="0D0F13"/>
                </a:solidFill>
                <a:latin typeface="Roboto Mono"/>
                <a:ea typeface="Roboto Mono"/>
                <a:cs typeface="Roboto Mono"/>
                <a:sym typeface="Roboto Mono"/>
              </a:rPr>
              <a:t>01</a:t>
            </a:r>
          </a:p>
        </p:txBody>
      </p:sp>
      <p:sp>
        <p:nvSpPr>
          <p:cNvPr id="76" name="brief step 01 key"/>
          <p:cNvSpPr txBox="1"/>
          <p:nvPr/>
        </p:nvSpPr>
        <p:spPr>
          <a:xfrm>
            <a:off x="5559552" y="1527048"/>
            <a:ext cx="3017520" cy="219456"/>
          </a:xfrm>
          <a:prstGeom prst="rect">
            <a:avLst/>
          </a:prstGeom>
          <a:noFill/>
        </p:spPr>
        <p:txBody>
          <a:bodyPr wrap="square" lIns="0" rIns="0" tIns="0" bIns="0" anchor="t"/>
          <a:lstStyle/>
          <a:p>
            <a:pPr algn="l"/>
            <a:r>
              <a:rPr sz="850" b="0" i="0">
                <a:solidFill>
                  <a:srgbClr val="C3C8D1"/>
                </a:solidFill>
                <a:latin typeface="Roboto Mono"/>
                <a:ea typeface="Roboto Mono"/>
                <a:cs typeface="Roboto Mono"/>
                <a:sym typeface="Roboto Mono"/>
              </a:rPr>
              <a:t>RECORD</a:t>
            </a:r>
          </a:p>
        </p:txBody>
      </p:sp>
      <p:sp>
        <p:nvSpPr>
          <p:cNvPr id="77" name="brief step 01 text"/>
          <p:cNvSpPr txBox="1"/>
          <p:nvPr/>
        </p:nvSpPr>
        <p:spPr>
          <a:xfrm>
            <a:off x="5559552" y="1746504"/>
            <a:ext cx="3017520" cy="274320"/>
          </a:xfrm>
          <a:prstGeom prst="rect">
            <a:avLst/>
          </a:prstGeom>
          <a:noFill/>
        </p:spPr>
        <p:txBody>
          <a:bodyPr wrap="square" lIns="0" rIns="0" tIns="0" bIns="0" anchor="t"/>
          <a:lstStyle/>
          <a:p>
            <a:pPr algn="l"/>
            <a:r>
              <a:rPr sz="1200" b="0" i="0">
                <a:solidFill>
                  <a:srgbClr val="FFFFFF"/>
                </a:solidFill>
                <a:latin typeface="Google Sans Flex"/>
                <a:ea typeface="Google Sans Flex"/>
                <a:cs typeface="Google Sans Flex"/>
                <a:sym typeface="Google Sans Flex"/>
              </a:rPr>
              <a:t>Do the task once, in any web app</a:t>
            </a:r>
          </a:p>
        </p:txBody>
      </p:sp>
      <p:sp>
        <p:nvSpPr>
          <p:cNvPr id="78" name="brief node 02"/>
          <p:cNvSpPr/>
          <p:nvPr/>
        </p:nvSpPr>
        <p:spPr>
          <a:xfrm>
            <a:off x="5047488" y="2697480"/>
            <a:ext cx="329184" cy="329184"/>
          </a:xfrm>
          <a:prstGeom prst="ellipse">
            <a:avLst/>
          </a:prstGeom>
          <a:solidFill>
            <a:srgbClr val="FFFFFF"/>
          </a:solidFill>
          <a:ln>
            <a:noFill/>
          </a:ln>
        </p:spPr>
        <p:txBody>
          <a:bodyPr rtlCol="0" anchor="ctr" lIns="0" rIns="0" tIns="0" bIns="0"/>
          <a:lstStyle/>
          <a:p>
            <a:pPr algn="ctr"/>
            <a:r>
              <a:rPr sz="800" b="1" i="0">
                <a:solidFill>
                  <a:srgbClr val="0D0F13"/>
                </a:solidFill>
                <a:latin typeface="Roboto Mono"/>
                <a:ea typeface="Roboto Mono"/>
                <a:cs typeface="Roboto Mono"/>
                <a:sym typeface="Roboto Mono"/>
              </a:rPr>
              <a:t>02</a:t>
            </a:r>
          </a:p>
        </p:txBody>
      </p:sp>
      <p:sp>
        <p:nvSpPr>
          <p:cNvPr id="79" name="brief step 02 key"/>
          <p:cNvSpPr txBox="1"/>
          <p:nvPr/>
        </p:nvSpPr>
        <p:spPr>
          <a:xfrm>
            <a:off x="5559552" y="2624328"/>
            <a:ext cx="3017520" cy="219456"/>
          </a:xfrm>
          <a:prstGeom prst="rect">
            <a:avLst/>
          </a:prstGeom>
          <a:noFill/>
        </p:spPr>
        <p:txBody>
          <a:bodyPr wrap="square" lIns="0" rIns="0" tIns="0" bIns="0" anchor="t"/>
          <a:lstStyle/>
          <a:p>
            <a:pPr algn="l"/>
            <a:r>
              <a:rPr sz="850" b="0" i="0">
                <a:solidFill>
                  <a:srgbClr val="C3C8D1"/>
                </a:solidFill>
                <a:latin typeface="Roboto Mono"/>
                <a:ea typeface="Roboto Mono"/>
                <a:cs typeface="Roboto Mono"/>
                <a:sym typeface="Roboto Mono"/>
              </a:rPr>
              <a:t>BOUND</a:t>
            </a:r>
          </a:p>
        </p:txBody>
      </p:sp>
      <p:sp>
        <p:nvSpPr>
          <p:cNvPr id="80" name="brief step 02 text"/>
          <p:cNvSpPr txBox="1"/>
          <p:nvPr/>
        </p:nvSpPr>
        <p:spPr>
          <a:xfrm>
            <a:off x="5559552" y="2843784"/>
            <a:ext cx="3017520" cy="274320"/>
          </a:xfrm>
          <a:prstGeom prst="rect">
            <a:avLst/>
          </a:prstGeom>
          <a:noFill/>
        </p:spPr>
        <p:txBody>
          <a:bodyPr wrap="square" lIns="0" rIns="0" tIns="0" bIns="0" anchor="t"/>
          <a:lstStyle/>
          <a:p>
            <a:pPr algn="l"/>
            <a:r>
              <a:rPr sz="1200" b="0" i="1">
                <a:solidFill>
                  <a:srgbClr val="FFFFFF"/>
                </a:solidFill>
                <a:latin typeface="Google Sans Flex"/>
                <a:ea typeface="Google Sans Flex"/>
                <a:cs typeface="Google Sans Flex"/>
                <a:sym typeface="Google Sans Flex"/>
              </a:rPr>
              <a:t>“don’t delete anything”</a:t>
            </a:r>
          </a:p>
        </p:txBody>
      </p:sp>
      <p:sp>
        <p:nvSpPr>
          <p:cNvPr id="81" name="brief rule 02"/>
          <p:cNvSpPr/>
          <p:nvPr/>
        </p:nvSpPr>
        <p:spPr>
          <a:xfrm>
            <a:off x="5559552" y="3163824"/>
            <a:ext cx="1517904" cy="292608"/>
          </a:xfrm>
          <a:prstGeom prst="roundRect">
            <a:avLst>
              <a:gd name="adj" fmla="val 18000"/>
            </a:avLst>
          </a:prstGeom>
          <a:solidFill>
            <a:srgbClr val="16191F"/>
          </a:solidFill>
          <a:ln w="9525">
            <a:solidFill>
              <a:srgbClr val="2A2F38"/>
            </a:solidFill>
          </a:ln>
        </p:spPr>
        <p:txBody>
          <a:bodyPr rtlCol="0" anchor="ctr"/>
          <a:lstStyle/>
          <a:p/>
        </p:txBody>
      </p:sp>
      <p:sp>
        <p:nvSpPr>
          <p:cNvPr id="82" name="brief rule 02 badge"/>
          <p:cNvSpPr/>
          <p:nvPr/>
        </p:nvSpPr>
        <p:spPr>
          <a:xfrm>
            <a:off x="5605272" y="3209544"/>
            <a:ext cx="512064" cy="201168"/>
          </a:xfrm>
          <a:prstGeom prst="roundRect">
            <a:avLst>
              <a:gd name="adj" fmla="val 15000"/>
            </a:avLst>
          </a:prstGeom>
          <a:noFill/>
          <a:ln w="9525">
            <a:solidFill>
              <a:srgbClr val="E8EAEE"/>
            </a:solidFill>
          </a:ln>
        </p:spPr>
        <p:txBody>
          <a:bodyPr rtlCol="0" anchor="ctr" lIns="0" rIns="0" tIns="0" bIns="0"/>
          <a:lstStyle/>
          <a:p>
            <a:pPr algn="ctr"/>
            <a:r>
              <a:rPr sz="750" b="1" i="0">
                <a:solidFill>
                  <a:srgbClr val="E8EAEE"/>
                </a:solidFill>
                <a:latin typeface="Roboto Mono"/>
                <a:ea typeface="Roboto Mono"/>
                <a:cs typeface="Roboto Mono"/>
                <a:sym typeface="Roboto Mono"/>
              </a:rPr>
              <a:t>DENY</a:t>
            </a:r>
          </a:p>
        </p:txBody>
      </p:sp>
      <p:sp>
        <p:nvSpPr>
          <p:cNvPr id="83" name="brief rule 02 verb"/>
          <p:cNvSpPr txBox="1"/>
          <p:nvPr/>
        </p:nvSpPr>
        <p:spPr>
          <a:xfrm>
            <a:off x="6181344" y="3163824"/>
            <a:ext cx="950976" cy="292608"/>
          </a:xfrm>
          <a:prstGeom prst="rect">
            <a:avLst/>
          </a:prstGeom>
          <a:noFill/>
        </p:spPr>
        <p:txBody>
          <a:bodyPr wrap="square" lIns="0" rIns="0" tIns="0" bIns="0" anchor="ctr"/>
          <a:lstStyle/>
          <a:p>
            <a:pPr algn="l"/>
            <a:r>
              <a:rPr sz="950" b="0" i="0">
                <a:solidFill>
                  <a:srgbClr val="E8EAEE"/>
                </a:solidFill>
                <a:latin typeface="Roboto Mono"/>
                <a:ea typeface="Roboto Mono"/>
                <a:cs typeface="Roboto Mono"/>
                <a:sym typeface="Roboto Mono"/>
              </a:rPr>
              <a:t>delete_*</a:t>
            </a:r>
          </a:p>
        </p:txBody>
      </p:sp>
      <p:sp>
        <p:nvSpPr>
          <p:cNvPr id="84" name="brief node 03"/>
          <p:cNvSpPr/>
          <p:nvPr/>
        </p:nvSpPr>
        <p:spPr>
          <a:xfrm>
            <a:off x="5047488" y="3794760"/>
            <a:ext cx="329184" cy="329184"/>
          </a:xfrm>
          <a:prstGeom prst="ellipse">
            <a:avLst/>
          </a:prstGeom>
          <a:solidFill>
            <a:srgbClr val="2DD4A7"/>
          </a:solidFill>
          <a:ln>
            <a:noFill/>
          </a:ln>
        </p:spPr>
        <p:txBody>
          <a:bodyPr rtlCol="0" anchor="ctr" lIns="0" rIns="0" tIns="0" bIns="0"/>
          <a:lstStyle/>
          <a:p>
            <a:pPr algn="ctr"/>
            <a:r>
              <a:rPr sz="800" b="1" i="0">
                <a:solidFill>
                  <a:srgbClr val="0D0F13"/>
                </a:solidFill>
                <a:latin typeface="Roboto Mono"/>
                <a:ea typeface="Roboto Mono"/>
                <a:cs typeface="Roboto Mono"/>
                <a:sym typeface="Roboto Mono"/>
              </a:rPr>
              <a:t>03</a:t>
            </a:r>
          </a:p>
        </p:txBody>
      </p:sp>
      <p:sp>
        <p:nvSpPr>
          <p:cNvPr id="85" name="brief step 03 key"/>
          <p:cNvSpPr txBox="1"/>
          <p:nvPr/>
        </p:nvSpPr>
        <p:spPr>
          <a:xfrm>
            <a:off x="5559552" y="3721608"/>
            <a:ext cx="3017520" cy="219456"/>
          </a:xfrm>
          <a:prstGeom prst="rect">
            <a:avLst/>
          </a:prstGeom>
          <a:noFill/>
        </p:spPr>
        <p:txBody>
          <a:bodyPr wrap="square" lIns="0" rIns="0" tIns="0" bIns="0" anchor="t"/>
          <a:lstStyle/>
          <a:p>
            <a:pPr algn="l"/>
            <a:r>
              <a:rPr sz="850" b="0" i="0">
                <a:solidFill>
                  <a:srgbClr val="C3C8D1"/>
                </a:solidFill>
                <a:latin typeface="Roboto Mono"/>
                <a:ea typeface="Roboto Mono"/>
                <a:cs typeface="Roboto Mono"/>
                <a:sym typeface="Roboto Mono"/>
              </a:rPr>
              <a:t>SHARE &amp; RUN</a:t>
            </a:r>
          </a:p>
        </p:txBody>
      </p:sp>
      <p:sp>
        <p:nvSpPr>
          <p:cNvPr id="86" name="brief step 03 text"/>
          <p:cNvSpPr txBox="1"/>
          <p:nvPr/>
        </p:nvSpPr>
        <p:spPr>
          <a:xfrm>
            <a:off x="5559552" y="3941064"/>
            <a:ext cx="3017520" cy="274320"/>
          </a:xfrm>
          <a:prstGeom prst="rect">
            <a:avLst/>
          </a:prstGeom>
          <a:noFill/>
        </p:spPr>
        <p:txBody>
          <a:bodyPr wrap="square" lIns="0" rIns="0" tIns="0" bIns="0" anchor="t"/>
          <a:lstStyle/>
          <a:p>
            <a:pPr algn="l"/>
            <a:r>
              <a:rPr sz="1200" b="0" i="0">
                <a:solidFill>
                  <a:srgbClr val="FFFFFF"/>
                </a:solidFill>
                <a:latin typeface="Google Sans Flex"/>
                <a:ea typeface="Google Sans Flex"/>
                <a:cs typeface="Google Sans Flex"/>
                <a:sym typeface="Google Sans Flex"/>
              </a:rPr>
              <a:t>Their agent runs it, inside your rules</a:t>
            </a:r>
          </a:p>
        </p:txBody>
      </p:sp>
      <p:sp>
        <p:nvSpPr>
          <p:cNvPr id="87" name="brief boundary"/>
          <p:cNvSpPr/>
          <p:nvPr/>
        </p:nvSpPr>
        <p:spPr>
          <a:xfrm>
            <a:off x="8467344" y="1444752"/>
            <a:ext cx="45720" cy="2880360"/>
          </a:xfrm>
          <a:prstGeom prst="roundRect">
            <a:avLst>
              <a:gd name="adj" fmla="val 50000"/>
            </a:avLst>
          </a:prstGeom>
          <a:solidFill>
            <a:srgbClr val="FF5C6C"/>
          </a:solidFill>
          <a:ln>
            <a:noFill/>
          </a:ln>
        </p:spPr>
        <p:txBody>
          <a:bodyPr rtlCol="0" anchor="ctr"/>
          <a:lstStyl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03504"/>
            <a:ext cx="8943000"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b="0" i="0">
                <a:solidFill>
                  <a:srgbClr val="1E2228"/>
                </a:solidFill>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80" name="opp card 1"/>
          <p:cNvSpPr/>
          <p:nvPr/>
        </p:nvSpPr>
        <p:spPr>
          <a:xfrm>
            <a:off x="384048" y="1078992"/>
            <a:ext cx="2657856" cy="2743200"/>
          </a:xfrm>
          <a:prstGeom prst="roundRect">
            <a:avLst>
              <a:gd name="adj" fmla="val 5000"/>
            </a:avLst>
          </a:prstGeom>
          <a:solidFill>
            <a:srgbClr val="F4F5F7"/>
          </a:solidFill>
          <a:ln>
            <a:noFill/>
          </a:ln>
        </p:spPr>
        <p:txBody>
          <a:bodyPr rtlCol="0" anchor="ctr"/>
          <a:lstStyle/>
          <a:p/>
        </p:txBody>
      </p:sp>
      <p:sp>
        <p:nvSpPr>
          <p:cNvPr id="81" name="opp icon 1"/>
          <p:cNvSpPr/>
          <p:nvPr/>
        </p:nvSpPr>
        <p:spPr>
          <a:xfrm>
            <a:off x="576072" y="1289304"/>
            <a:ext cx="274320" cy="274320"/>
          </a:xfrm>
          <a:prstGeom prst="ellipse">
            <a:avLst/>
          </a:prstGeom>
          <a:solidFill>
            <a:srgbClr val="0D0F13"/>
          </a:solidFill>
          <a:ln>
            <a:noFill/>
          </a:ln>
        </p:spPr>
        <p:txBody>
          <a:bodyPr rtlCol="0" anchor="ctr" lIns="0" rIns="0" tIns="0" bIns="0"/>
          <a:lstStyle/>
          <a:p>
            <a:pPr algn="ctr"/>
            <a:r>
              <a:rPr sz="900" b="1" i="0">
                <a:solidFill>
                  <a:srgbClr val="FFFFFF"/>
                </a:solidFill>
                <a:latin typeface="Roboto Mono"/>
                <a:ea typeface="Roboto Mono"/>
                <a:cs typeface="Roboto Mono"/>
                <a:sym typeface="Roboto Mono"/>
              </a:rPr>
              <a:t>1</a:t>
            </a:r>
          </a:p>
        </p:txBody>
      </p:sp>
      <p:sp>
        <p:nvSpPr>
          <p:cNvPr id="82" name="opp q 1"/>
          <p:cNvSpPr txBox="1"/>
          <p:nvPr/>
        </p:nvSpPr>
        <p:spPr>
          <a:xfrm>
            <a:off x="932688" y="1316736"/>
            <a:ext cx="1972056" cy="274320"/>
          </a:xfrm>
          <a:prstGeom prst="rect">
            <a:avLst/>
          </a:prstGeom>
          <a:noFill/>
        </p:spPr>
        <p:txBody>
          <a:bodyPr wrap="square" lIns="0" rIns="0" tIns="0" bIns="0" anchor="ctr"/>
          <a:lstStyle/>
          <a:p>
            <a:pPr algn="l"/>
            <a:r>
              <a:rPr sz="1300" b="0" i="0">
                <a:solidFill>
                  <a:srgbClr val="1E2228"/>
                </a:solidFill>
                <a:latin typeface="Google Sans Flex SemiBold"/>
                <a:ea typeface="Google Sans Flex SemiBold"/>
                <a:cs typeface="Google Sans Flex SemiBold"/>
                <a:sym typeface="Google Sans Flex SemiBold"/>
              </a:rPr>
              <a:t>How is it different?</a:t>
            </a:r>
          </a:p>
        </p:txBody>
      </p:sp>
      <p:sp>
        <p:nvSpPr>
          <p:cNvPr id="83" name="opp body 1"/>
          <p:cNvSpPr txBox="1"/>
          <p:nvPr/>
        </p:nvSpPr>
        <p:spPr>
          <a:xfrm>
            <a:off x="658368" y="1828800"/>
            <a:ext cx="2154936" cy="1920240"/>
          </a:xfrm>
          <a:prstGeom prst="rect">
            <a:avLst/>
          </a:prstGeom>
          <a:noFill/>
        </p:spPr>
        <p:txBody>
          <a:bodyPr wrap="square" lIns="0" rIns="0" tIns="0" bIns="0" anchor="t"/>
          <a:lstStyle/>
          <a:p>
            <a:pPr algn="l">
              <a:lnSpc>
                <a:spcPct val="112000"/>
              </a:lnSpc>
              <a:spcAft>
                <a:spcPts val="900"/>
              </a:spcAft>
            </a:pPr>
            <a:r>
              <a:rPr sz="1150" b="0" i="0">
                <a:solidFill>
                  <a:srgbClr val="1E2228"/>
                </a:solidFill>
                <a:latin typeface="Google Sans Flex"/>
                <a:ea typeface="Google Sans Flex"/>
                <a:cs typeface="Google Sans Flex"/>
                <a:sym typeface="Google Sans Flex"/>
              </a:rPr>
              <a:t>Macro recorders replay clicks and break when a page changes.</a:t>
            </a:r>
          </a:p>
          <a:p>
            <a:pPr algn="l">
              <a:lnSpc>
                <a:spcPct val="112000"/>
              </a:lnSpc>
              <a:spcAft>
                <a:spcPts val="900"/>
              </a:spcAft>
            </a:pPr>
            <a:r>
              <a:rPr sz="1150" b="0" i="0">
                <a:solidFill>
                  <a:srgbClr val="1E2228"/>
                </a:solidFill>
                <a:latin typeface="Google Sans Flex"/>
                <a:ea typeface="Google Sans Flex"/>
                <a:cs typeface="Google Sans Flex"/>
                <a:sym typeface="Google Sans Flex"/>
              </a:rPr>
              <a:t>AI browser agents adapt, but nothing limits what they do.</a:t>
            </a:r>
          </a:p>
          <a:p>
            <a:pPr algn="l">
              <a:lnSpc>
                <a:spcPct val="112000"/>
              </a:lnSpc>
              <a:spcAft>
                <a:spcPts val="900"/>
              </a:spcAft>
            </a:pPr>
            <a:r>
              <a:rPr sz="1150" b="0" i="0">
                <a:solidFill>
                  <a:srgbClr val="1E2228"/>
                </a:solidFill>
                <a:latin typeface="Google Sans Flex"/>
                <a:ea typeface="Google Sans Flex"/>
                <a:cs typeface="Google Sans Flex"/>
                <a:sym typeface="Google Sans Flex"/>
              </a:rPr>
              <a:t>IntentLink adapts like an agent and stays bounded like a recording.</a:t>
            </a:r>
          </a:p>
        </p:txBody>
      </p:sp>
      <p:sp>
        <p:nvSpPr>
          <p:cNvPr id="84" name="opp card 2"/>
          <p:cNvSpPr/>
          <p:nvPr/>
        </p:nvSpPr>
        <p:spPr>
          <a:xfrm>
            <a:off x="3243072" y="1078992"/>
            <a:ext cx="2657856" cy="2743200"/>
          </a:xfrm>
          <a:prstGeom prst="roundRect">
            <a:avLst>
              <a:gd name="adj" fmla="val 5000"/>
            </a:avLst>
          </a:prstGeom>
          <a:solidFill>
            <a:srgbClr val="F4F5F7"/>
          </a:solidFill>
          <a:ln>
            <a:noFill/>
          </a:ln>
        </p:spPr>
        <p:txBody>
          <a:bodyPr rtlCol="0" anchor="ctr"/>
          <a:lstStyle/>
          <a:p/>
        </p:txBody>
      </p:sp>
      <p:sp>
        <p:nvSpPr>
          <p:cNvPr id="85" name="opp icon 2"/>
          <p:cNvSpPr/>
          <p:nvPr/>
        </p:nvSpPr>
        <p:spPr>
          <a:xfrm>
            <a:off x="3435096" y="1289304"/>
            <a:ext cx="274320" cy="274320"/>
          </a:xfrm>
          <a:prstGeom prst="ellipse">
            <a:avLst/>
          </a:prstGeom>
          <a:solidFill>
            <a:srgbClr val="0D0F13"/>
          </a:solidFill>
          <a:ln>
            <a:noFill/>
          </a:ln>
        </p:spPr>
        <p:txBody>
          <a:bodyPr rtlCol="0" anchor="ctr" lIns="0" rIns="0" tIns="0" bIns="0"/>
          <a:lstStyle/>
          <a:p>
            <a:pPr algn="ctr"/>
            <a:r>
              <a:rPr sz="900" b="1" i="0">
                <a:solidFill>
                  <a:srgbClr val="FFFFFF"/>
                </a:solidFill>
                <a:latin typeface="Roboto Mono"/>
                <a:ea typeface="Roboto Mono"/>
                <a:cs typeface="Roboto Mono"/>
                <a:sym typeface="Roboto Mono"/>
              </a:rPr>
              <a:t>2</a:t>
            </a:r>
          </a:p>
        </p:txBody>
      </p:sp>
      <p:sp>
        <p:nvSpPr>
          <p:cNvPr id="86" name="opp q 2"/>
          <p:cNvSpPr txBox="1"/>
          <p:nvPr/>
        </p:nvSpPr>
        <p:spPr>
          <a:xfrm>
            <a:off x="3791712" y="1316736"/>
            <a:ext cx="1972056" cy="274320"/>
          </a:xfrm>
          <a:prstGeom prst="rect">
            <a:avLst/>
          </a:prstGeom>
          <a:noFill/>
        </p:spPr>
        <p:txBody>
          <a:bodyPr wrap="square" lIns="0" rIns="0" tIns="0" bIns="0" anchor="ctr"/>
          <a:lstStyle/>
          <a:p>
            <a:pPr algn="l"/>
            <a:r>
              <a:rPr sz="1300" b="0" i="0">
                <a:solidFill>
                  <a:srgbClr val="1E2228"/>
                </a:solidFill>
                <a:latin typeface="Google Sans Flex SemiBold"/>
                <a:ea typeface="Google Sans Flex SemiBold"/>
                <a:cs typeface="Google Sans Flex SemiBold"/>
                <a:sym typeface="Google Sans Flex SemiBold"/>
              </a:rPr>
              <a:t>How does it solve the problem?</a:t>
            </a:r>
          </a:p>
        </p:txBody>
      </p:sp>
      <p:sp>
        <p:nvSpPr>
          <p:cNvPr id="87" name="opp body 2"/>
          <p:cNvSpPr txBox="1"/>
          <p:nvPr/>
        </p:nvSpPr>
        <p:spPr>
          <a:xfrm>
            <a:off x="3517392" y="1828800"/>
            <a:ext cx="2154936" cy="1920240"/>
          </a:xfrm>
          <a:prstGeom prst="rect">
            <a:avLst/>
          </a:prstGeom>
          <a:noFill/>
        </p:spPr>
        <p:txBody>
          <a:bodyPr wrap="square" lIns="0" rIns="0" tIns="0" bIns="0" anchor="t"/>
          <a:lstStyle/>
          <a:p>
            <a:pPr algn="l">
              <a:lnSpc>
                <a:spcPct val="112000"/>
              </a:lnSpc>
              <a:spcAft>
                <a:spcPts val="900"/>
              </a:spcAft>
            </a:pPr>
            <a:r>
              <a:rPr sz="1150" b="0" i="0">
                <a:solidFill>
                  <a:srgbClr val="1E2228"/>
                </a:solidFill>
                <a:latin typeface="Google Sans Flex"/>
                <a:ea typeface="Google Sans Flex"/>
                <a:cs typeface="Google Sans Flex"/>
                <a:sym typeface="Google Sans Flex"/>
              </a:rPr>
              <a:t>No more 14-step docs, screenshots or screen-shares.</a:t>
            </a:r>
          </a:p>
          <a:p>
            <a:pPr algn="l">
              <a:lnSpc>
                <a:spcPct val="112000"/>
              </a:lnSpc>
              <a:spcAft>
                <a:spcPts val="900"/>
              </a:spcAft>
            </a:pPr>
            <a:r>
              <a:rPr sz="1150" b="0" i="0">
                <a:solidFill>
                  <a:srgbClr val="1E2228"/>
                </a:solidFill>
                <a:latin typeface="Google Sans Flex"/>
                <a:ea typeface="Google Sans Flex"/>
                <a:cs typeface="Google Sans Flex"/>
                <a:sym typeface="Google Sans Flex"/>
              </a:rPr>
              <a:t>The creator shows the task once; the receiver presses Run.</a:t>
            </a:r>
          </a:p>
          <a:p>
            <a:pPr algn="l">
              <a:lnSpc>
                <a:spcPct val="112000"/>
              </a:lnSpc>
              <a:spcAft>
                <a:spcPts val="900"/>
              </a:spcAft>
            </a:pPr>
            <a:r>
              <a:rPr sz="1150" b="0" i="0">
                <a:solidFill>
                  <a:srgbClr val="1E2228"/>
                </a:solidFill>
                <a:latin typeface="Google Sans Flex"/>
                <a:ea typeface="Google Sans Flex"/>
                <a:cs typeface="Google Sans Flex"/>
                <a:sym typeface="Google Sans Flex"/>
              </a:rPr>
              <a:t>Their agent does it in their own browser, with their own accounts.</a:t>
            </a:r>
          </a:p>
        </p:txBody>
      </p:sp>
      <p:sp>
        <p:nvSpPr>
          <p:cNvPr id="88" name="opp card 3"/>
          <p:cNvSpPr/>
          <p:nvPr/>
        </p:nvSpPr>
        <p:spPr>
          <a:xfrm>
            <a:off x="6102096" y="1078992"/>
            <a:ext cx="2657856" cy="2743200"/>
          </a:xfrm>
          <a:prstGeom prst="roundRect">
            <a:avLst>
              <a:gd name="adj" fmla="val 5000"/>
            </a:avLst>
          </a:prstGeom>
          <a:solidFill>
            <a:srgbClr val="0D0F13"/>
          </a:solidFill>
          <a:ln>
            <a:noFill/>
          </a:ln>
        </p:spPr>
        <p:txBody>
          <a:bodyPr rtlCol="0" anchor="ctr"/>
          <a:lstStyle/>
          <a:p/>
        </p:txBody>
      </p:sp>
      <p:sp>
        <p:nvSpPr>
          <p:cNvPr id="89" name="opp icon 3"/>
          <p:cNvSpPr/>
          <p:nvPr/>
        </p:nvSpPr>
        <p:spPr>
          <a:xfrm>
            <a:off x="6294120" y="1289304"/>
            <a:ext cx="274320" cy="274320"/>
          </a:xfrm>
          <a:prstGeom prst="ellipse">
            <a:avLst/>
          </a:prstGeom>
          <a:solidFill>
            <a:srgbClr val="2DD4A7"/>
          </a:solidFill>
          <a:ln>
            <a:noFill/>
          </a:ln>
        </p:spPr>
        <p:txBody>
          <a:bodyPr rtlCol="0" anchor="ctr" lIns="0" rIns="0" tIns="0" bIns="0"/>
          <a:lstStyle/>
          <a:p>
            <a:pPr algn="ctr"/>
            <a:r>
              <a:rPr sz="900" b="1" i="0">
                <a:solidFill>
                  <a:srgbClr val="0D0F13"/>
                </a:solidFill>
                <a:latin typeface="Roboto Mono"/>
                <a:ea typeface="Roboto Mono"/>
                <a:cs typeface="Roboto Mono"/>
                <a:sym typeface="Roboto Mono"/>
              </a:rPr>
              <a:t>3</a:t>
            </a:r>
          </a:p>
        </p:txBody>
      </p:sp>
      <p:sp>
        <p:nvSpPr>
          <p:cNvPr id="90" name="opp q 3"/>
          <p:cNvSpPr txBox="1"/>
          <p:nvPr/>
        </p:nvSpPr>
        <p:spPr>
          <a:xfrm>
            <a:off x="6650736" y="1316736"/>
            <a:ext cx="1972056" cy="274320"/>
          </a:xfrm>
          <a:prstGeom prst="rect">
            <a:avLst/>
          </a:prstGeom>
          <a:noFill/>
        </p:spPr>
        <p:txBody>
          <a:bodyPr wrap="square" lIns="0" rIns="0" tIns="0" bIns="0" anchor="ctr"/>
          <a:lstStyle/>
          <a:p>
            <a:pPr algn="l"/>
            <a:r>
              <a:rPr sz="1300" b="0" i="0">
                <a:solidFill>
                  <a:srgbClr val="FFFFFF"/>
                </a:solidFill>
                <a:latin typeface="Google Sans Flex SemiBold"/>
                <a:ea typeface="Google Sans Flex SemiBold"/>
                <a:cs typeface="Google Sans Flex SemiBold"/>
                <a:sym typeface="Google Sans Flex SemiBold"/>
              </a:rPr>
              <a:t>USP</a:t>
            </a:r>
          </a:p>
        </p:txBody>
      </p:sp>
      <p:sp>
        <p:nvSpPr>
          <p:cNvPr id="91" name="opp body 3"/>
          <p:cNvSpPr txBox="1"/>
          <p:nvPr/>
        </p:nvSpPr>
        <p:spPr>
          <a:xfrm>
            <a:off x="6376416" y="1828800"/>
            <a:ext cx="2154936" cy="1920240"/>
          </a:xfrm>
          <a:prstGeom prst="rect">
            <a:avLst/>
          </a:prstGeom>
          <a:noFill/>
        </p:spPr>
        <p:txBody>
          <a:bodyPr wrap="square" lIns="0" rIns="0" tIns="0" bIns="0" anchor="t"/>
          <a:lstStyle/>
          <a:p>
            <a:pPr algn="l">
              <a:lnSpc>
                <a:spcPct val="112000"/>
              </a:lnSpc>
              <a:spcAft>
                <a:spcPts val="900"/>
              </a:spcAft>
            </a:pPr>
            <a:r>
              <a:rPr sz="1300" b="0" i="1">
                <a:solidFill>
                  <a:srgbClr val="2DD4A7"/>
                </a:solidFill>
                <a:latin typeface="Google Sans Flex SemiBold"/>
                <a:ea typeface="Google Sans Flex SemiBold"/>
                <a:cs typeface="Google Sans Flex SemiBold"/>
                <a:sym typeface="Google Sans Flex SemiBold"/>
              </a:rPr>
              <a:t>The recording is the grant. English is the restriction.</a:t>
            </a:r>
          </a:p>
          <a:p>
            <a:pPr algn="l">
              <a:lnSpc>
                <a:spcPct val="112000"/>
              </a:lnSpc>
              <a:spcAft>
                <a:spcPts val="900"/>
              </a:spcAft>
            </a:pPr>
            <a:r>
              <a:rPr sz="1150" b="0" i="0">
                <a:solidFill>
                  <a:srgbClr val="C3C8D1"/>
                </a:solidFill>
                <a:latin typeface="Google Sans Flex"/>
                <a:ea typeface="Google Sans Flex"/>
                <a:cs typeface="Google Sans Flex"/>
                <a:sym typeface="Google Sans Flex"/>
              </a:rPr>
              <a:t>Rules are enforced by code outside the model: the agent cannot talk its way past them.</a:t>
            </a:r>
          </a:p>
          <a:p>
            <a:pPr algn="l">
              <a:lnSpc>
                <a:spcPct val="112000"/>
              </a:lnSpc>
              <a:spcAft>
                <a:spcPts val="900"/>
              </a:spcAft>
            </a:pPr>
            <a:r>
              <a:rPr sz="1150" b="0" i="0">
                <a:solidFill>
                  <a:srgbClr val="C3C8D1"/>
                </a:solidFill>
                <a:latin typeface="Google Sans Flex"/>
                <a:ea typeface="Google Sans Flex"/>
                <a:cs typeface="Google Sans Flex"/>
                <a:sym typeface="Google Sans Flex"/>
              </a:rPr>
              <a:t>Every action needs a single-use token, and every block quotes the creator’s own words.</a:t>
            </a:r>
          </a:p>
        </p:txBody>
      </p:sp>
      <p:sp>
        <p:nvSpPr>
          <p:cNvPr id="92" name="who strip"/>
          <p:cNvSpPr/>
          <p:nvPr/>
        </p:nvSpPr>
        <p:spPr>
          <a:xfrm>
            <a:off x="384048" y="4005072"/>
            <a:ext cx="8375904" cy="685800"/>
          </a:xfrm>
          <a:prstGeom prst="roundRect">
            <a:avLst>
              <a:gd name="adj" fmla="val 15000"/>
            </a:avLst>
          </a:prstGeom>
          <a:solidFill>
            <a:srgbClr val="FFFFFF"/>
          </a:solidFill>
          <a:ln w="9525">
            <a:solidFill>
              <a:srgbClr val="DDE0E5"/>
            </a:solidFill>
          </a:ln>
        </p:spPr>
        <p:txBody>
          <a:bodyPr rtlCol="0" anchor="ctr"/>
          <a:lstStyle/>
          <a:p/>
        </p:txBody>
      </p:sp>
      <p:sp>
        <p:nvSpPr>
          <p:cNvPr id="93" name="who strip text"/>
          <p:cNvSpPr txBox="1"/>
          <p:nvPr/>
        </p:nvSpPr>
        <p:spPr>
          <a:xfrm>
            <a:off x="612648" y="4005072"/>
            <a:ext cx="7918704" cy="685800"/>
          </a:xfrm>
          <a:prstGeom prst="rect">
            <a:avLst/>
          </a:prstGeom>
          <a:noFill/>
        </p:spPr>
        <p:txBody>
          <a:bodyPr wrap="square" lIns="0" rIns="0" tIns="0" bIns="0" anchor="ctr"/>
          <a:lstStyle/>
          <a:p>
            <a:pPr algn="l"/>
            <a:r>
              <a:rPr sz="1100" b="0" i="0">
                <a:solidFill>
                  <a:srgbClr val="1E2228"/>
                </a:solidFill>
                <a:latin typeface="Google Sans Flex SemiBold"/>
                <a:ea typeface="Google Sans Flex SemiBold"/>
                <a:cs typeface="Google Sans Flex SemiBold"/>
                <a:sym typeface="Google Sans Flex SemiBold"/>
              </a:rPr>
              <a:t>Who it’s for  </a:t>
            </a:r>
            <a:r>
              <a:rPr sz="1100" b="0" i="0">
                <a:solidFill>
                  <a:srgbClr val="5B6270"/>
                </a:solidFill>
                <a:latin typeface="Google Sans Flex"/>
                <a:ea typeface="Google Sans Flex"/>
                <a:cs typeface="Google Sans Flex"/>
                <a:sym typeface="Google Sans Flex"/>
              </a:rPr>
              <a:t>teams onboarding new people · support hand-offs · IT rollouts · anyone who writes “how to” docs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03504"/>
            <a:ext cx="8943000"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b="0" i="0">
                <a:solidFill>
                  <a:srgbClr val="1E2228"/>
                </a:solidFill>
                <a:latin typeface="Google Sans Flex SemiBold"/>
                <a:ea typeface="Google Sans Flex SemiBold"/>
                <a:cs typeface="Google Sans Flex SemiBold"/>
                <a:sym typeface="Google Sans Flex SemiBold"/>
              </a:rPr>
              <a:t>Features offered by the solution</a:t>
            </a:r>
            <a:endParaRPr sz="1600">
              <a:latin typeface="Google Sans Flex Medium"/>
              <a:ea typeface="Google Sans Flex Medium"/>
              <a:cs typeface="Google Sans Flex Medium"/>
              <a:sym typeface="Google Sans Flex Medium"/>
            </a:endParaRPr>
          </a:p>
        </p:txBody>
      </p:sp>
      <p:sp>
        <p:nvSpPr>
          <p:cNvPr id="88" name="feature 1"/>
          <p:cNvSpPr/>
          <p:nvPr/>
        </p:nvSpPr>
        <p:spPr>
          <a:xfrm>
            <a:off x="384048" y="1078992"/>
            <a:ext cx="1970532" cy="1714500"/>
          </a:xfrm>
          <a:prstGeom prst="roundRect">
            <a:avLst>
              <a:gd name="adj" fmla="val 6000"/>
            </a:avLst>
          </a:prstGeom>
          <a:solidFill>
            <a:srgbClr val="FFFFFF"/>
          </a:solidFill>
          <a:ln w="9525">
            <a:solidFill>
              <a:srgbClr val="DDE0E5"/>
            </a:solidFill>
          </a:ln>
        </p:spPr>
        <p:txBody>
          <a:bodyPr rtlCol="0" anchor="ctr"/>
          <a:lstStyle/>
          <a:p/>
        </p:txBody>
      </p:sp>
      <p:sp>
        <p:nvSpPr>
          <p:cNvPr id="89" name="feature 1 node"/>
          <p:cNvSpPr/>
          <p:nvPr/>
        </p:nvSpPr>
        <p:spPr>
          <a:xfrm>
            <a:off x="548640" y="1280160"/>
            <a:ext cx="256032" cy="256032"/>
          </a:xfrm>
          <a:prstGeom prst="ellipse">
            <a:avLst/>
          </a:prstGeom>
          <a:solidFill>
            <a:srgbClr val="0D0F13"/>
          </a:solidFill>
          <a:ln>
            <a:noFill/>
          </a:ln>
        </p:spPr>
        <p:txBody>
          <a:bodyPr rtlCol="0" anchor="ctr" lIns="0" rIns="0" tIns="0" bIns="0"/>
          <a:lstStyle/>
          <a:p>
            <a:pPr algn="ctr"/>
            <a:r>
              <a:rPr sz="700" b="1" i="0">
                <a:solidFill>
                  <a:srgbClr val="FFFFFF"/>
                </a:solidFill>
                <a:latin typeface="Roboto Mono"/>
                <a:ea typeface="Roboto Mono"/>
                <a:cs typeface="Roboto Mono"/>
                <a:sym typeface="Roboto Mono"/>
              </a:rPr>
              <a:t>01</a:t>
            </a:r>
          </a:p>
        </p:txBody>
      </p:sp>
      <p:sp>
        <p:nvSpPr>
          <p:cNvPr id="90" name="feature 1 title"/>
          <p:cNvSpPr txBox="1"/>
          <p:nvPr/>
        </p:nvSpPr>
        <p:spPr>
          <a:xfrm>
            <a:off x="566928" y="1682496"/>
            <a:ext cx="1641348"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Record in any web app</a:t>
            </a:r>
          </a:p>
        </p:txBody>
      </p:sp>
      <p:sp>
        <p:nvSpPr>
          <p:cNvPr id="91" name="feature 1 text"/>
          <p:cNvSpPr txBox="1"/>
          <p:nvPr/>
        </p:nvSpPr>
        <p:spPr>
          <a:xfrm>
            <a:off x="566928" y="2103120"/>
            <a:ext cx="1641348" cy="617220"/>
          </a:xfrm>
          <a:prstGeom prst="rect">
            <a:avLst/>
          </a:prstGeom>
          <a:noFill/>
        </p:spPr>
        <p:txBody>
          <a:bodyPr wrap="square" lIns="0" rIns="0" tIns="0" bIns="0" anchor="t"/>
          <a:lstStyle/>
          <a:p>
            <a:pPr algn="l">
              <a:lnSpc>
                <a:spcPct val="110000"/>
              </a:lnSpc>
            </a:pPr>
            <a:r>
              <a:rPr sz="1050" b="0" i="0">
                <a:solidFill>
                  <a:srgbClr val="5B6270"/>
                </a:solidFill>
                <a:latin typeface="Google Sans Flex"/>
                <a:ea typeface="Google Sans Flex"/>
                <a:cs typeface="Google Sans Flex"/>
                <a:sym typeface="Google Sans Flex"/>
              </a:rPr>
              <a:t>Chrome extension captures each click by role and label, never by screen position.</a:t>
            </a:r>
          </a:p>
        </p:txBody>
      </p:sp>
      <p:sp>
        <p:nvSpPr>
          <p:cNvPr id="92" name="feature 2"/>
          <p:cNvSpPr/>
          <p:nvPr/>
        </p:nvSpPr>
        <p:spPr>
          <a:xfrm>
            <a:off x="2519172" y="1078992"/>
            <a:ext cx="1970532" cy="1714500"/>
          </a:xfrm>
          <a:prstGeom prst="roundRect">
            <a:avLst>
              <a:gd name="adj" fmla="val 6000"/>
            </a:avLst>
          </a:prstGeom>
          <a:solidFill>
            <a:srgbClr val="FFFFFF"/>
          </a:solidFill>
          <a:ln w="9525">
            <a:solidFill>
              <a:srgbClr val="DDE0E5"/>
            </a:solidFill>
          </a:ln>
        </p:spPr>
        <p:txBody>
          <a:bodyPr rtlCol="0" anchor="ctr"/>
          <a:lstStyle/>
          <a:p/>
        </p:txBody>
      </p:sp>
      <p:sp>
        <p:nvSpPr>
          <p:cNvPr id="93" name="feature 2 node"/>
          <p:cNvSpPr/>
          <p:nvPr/>
        </p:nvSpPr>
        <p:spPr>
          <a:xfrm>
            <a:off x="2683764" y="1280160"/>
            <a:ext cx="256032" cy="256032"/>
          </a:xfrm>
          <a:prstGeom prst="ellipse">
            <a:avLst/>
          </a:prstGeom>
          <a:solidFill>
            <a:srgbClr val="0D0F13"/>
          </a:solidFill>
          <a:ln>
            <a:noFill/>
          </a:ln>
        </p:spPr>
        <p:txBody>
          <a:bodyPr rtlCol="0" anchor="ctr" lIns="0" rIns="0" tIns="0" bIns="0"/>
          <a:lstStyle/>
          <a:p>
            <a:pPr algn="ctr"/>
            <a:r>
              <a:rPr sz="700" b="1" i="0">
                <a:solidFill>
                  <a:srgbClr val="FFFFFF"/>
                </a:solidFill>
                <a:latin typeface="Roboto Mono"/>
                <a:ea typeface="Roboto Mono"/>
                <a:cs typeface="Roboto Mono"/>
                <a:sym typeface="Roboto Mono"/>
              </a:rPr>
              <a:t>02</a:t>
            </a:r>
          </a:p>
        </p:txBody>
      </p:sp>
      <p:sp>
        <p:nvSpPr>
          <p:cNvPr id="94" name="feature 2 title"/>
          <p:cNvSpPr txBox="1"/>
          <p:nvPr/>
        </p:nvSpPr>
        <p:spPr>
          <a:xfrm>
            <a:off x="2702052" y="1682496"/>
            <a:ext cx="1641348"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Boundaries in plain English</a:t>
            </a:r>
          </a:p>
        </p:txBody>
      </p:sp>
      <p:sp>
        <p:nvSpPr>
          <p:cNvPr id="95" name="feature 2 text"/>
          <p:cNvSpPr txBox="1"/>
          <p:nvPr/>
        </p:nvSpPr>
        <p:spPr>
          <a:xfrm>
            <a:off x="2702052" y="2103120"/>
            <a:ext cx="1641348" cy="617220"/>
          </a:xfrm>
          <a:prstGeom prst="rect">
            <a:avLst/>
          </a:prstGeom>
          <a:noFill/>
        </p:spPr>
        <p:txBody>
          <a:bodyPr wrap="square" lIns="0" rIns="0" tIns="0" bIns="0" anchor="t"/>
          <a:lstStyle/>
          <a:p>
            <a:pPr algn="l">
              <a:lnSpc>
                <a:spcPct val="110000"/>
              </a:lnSpc>
            </a:pPr>
            <a:r>
              <a:rPr sz="1050" b="0" i="0">
                <a:solidFill>
                  <a:srgbClr val="5B6270"/>
                </a:solidFill>
                <a:latin typeface="Google Sans Flex"/>
                <a:ea typeface="Google Sans Flex"/>
                <a:cs typeface="Google Sans Flex"/>
                <a:sym typeface="Google Sans Flex"/>
              </a:rPr>
              <a:t>“Don’t delete anything” becomes DENY delete_*, compiled by Gemini.</a:t>
            </a:r>
          </a:p>
        </p:txBody>
      </p:sp>
      <p:sp>
        <p:nvSpPr>
          <p:cNvPr id="96" name="feature 3"/>
          <p:cNvSpPr/>
          <p:nvPr/>
        </p:nvSpPr>
        <p:spPr>
          <a:xfrm>
            <a:off x="4654296" y="1078992"/>
            <a:ext cx="1970532" cy="1714500"/>
          </a:xfrm>
          <a:prstGeom prst="roundRect">
            <a:avLst>
              <a:gd name="adj" fmla="val 6000"/>
            </a:avLst>
          </a:prstGeom>
          <a:solidFill>
            <a:srgbClr val="FFFFFF"/>
          </a:solidFill>
          <a:ln w="9525">
            <a:solidFill>
              <a:srgbClr val="DDE0E5"/>
            </a:solidFill>
          </a:ln>
        </p:spPr>
        <p:txBody>
          <a:bodyPr rtlCol="0" anchor="ctr"/>
          <a:lstStyle/>
          <a:p/>
        </p:txBody>
      </p:sp>
      <p:sp>
        <p:nvSpPr>
          <p:cNvPr id="97" name="feature 3 node"/>
          <p:cNvSpPr/>
          <p:nvPr/>
        </p:nvSpPr>
        <p:spPr>
          <a:xfrm>
            <a:off x="4818888" y="1280160"/>
            <a:ext cx="256032" cy="256032"/>
          </a:xfrm>
          <a:prstGeom prst="ellipse">
            <a:avLst/>
          </a:prstGeom>
          <a:solidFill>
            <a:srgbClr val="0D0F13"/>
          </a:solidFill>
          <a:ln>
            <a:noFill/>
          </a:ln>
        </p:spPr>
        <p:txBody>
          <a:bodyPr rtlCol="0" anchor="ctr" lIns="0" rIns="0" tIns="0" bIns="0"/>
          <a:lstStyle/>
          <a:p>
            <a:pPr algn="ctr"/>
            <a:r>
              <a:rPr sz="700" b="1" i="0">
                <a:solidFill>
                  <a:srgbClr val="FFFFFF"/>
                </a:solidFill>
                <a:latin typeface="Roboto Mono"/>
                <a:ea typeface="Roboto Mono"/>
                <a:cs typeface="Roboto Mono"/>
                <a:sym typeface="Roboto Mono"/>
              </a:rPr>
              <a:t>03</a:t>
            </a:r>
          </a:p>
        </p:txBody>
      </p:sp>
      <p:sp>
        <p:nvSpPr>
          <p:cNvPr id="98" name="feature 3 title"/>
          <p:cNvSpPr txBox="1"/>
          <p:nvPr/>
        </p:nvSpPr>
        <p:spPr>
          <a:xfrm>
            <a:off x="4837176" y="1682496"/>
            <a:ext cx="1641348"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A consent page per link</a:t>
            </a:r>
          </a:p>
        </p:txBody>
      </p:sp>
      <p:sp>
        <p:nvSpPr>
          <p:cNvPr id="99" name="feature 3 text"/>
          <p:cNvSpPr txBox="1"/>
          <p:nvPr/>
        </p:nvSpPr>
        <p:spPr>
          <a:xfrm>
            <a:off x="4837176" y="2103120"/>
            <a:ext cx="1641348" cy="617220"/>
          </a:xfrm>
          <a:prstGeom prst="rect">
            <a:avLst/>
          </a:prstGeom>
          <a:noFill/>
        </p:spPr>
        <p:txBody>
          <a:bodyPr wrap="square" lIns="0" rIns="0" tIns="0" bIns="0" anchor="t"/>
          <a:lstStyle/>
          <a:p>
            <a:pPr algn="l">
              <a:lnSpc>
                <a:spcPct val="110000"/>
              </a:lnSpc>
            </a:pPr>
            <a:r>
              <a:rPr sz="1050" b="0" i="0">
                <a:solidFill>
                  <a:srgbClr val="5B6270"/>
                </a:solidFill>
                <a:latin typeface="Google Sans Flex"/>
                <a:ea typeface="Google Sans Flex"/>
                <a:cs typeface="Google Sans Flex"/>
                <a:sym typeface="Google Sans Flex"/>
              </a:rPr>
              <a:t>Shows what it will do, what is prohibited, and what the receiver can change.</a:t>
            </a:r>
          </a:p>
        </p:txBody>
      </p:sp>
      <p:sp>
        <p:nvSpPr>
          <p:cNvPr id="100" name="feature 4"/>
          <p:cNvSpPr/>
          <p:nvPr/>
        </p:nvSpPr>
        <p:spPr>
          <a:xfrm>
            <a:off x="6789420" y="1078992"/>
            <a:ext cx="1970532" cy="1714500"/>
          </a:xfrm>
          <a:prstGeom prst="roundRect">
            <a:avLst>
              <a:gd name="adj" fmla="val 6000"/>
            </a:avLst>
          </a:prstGeom>
          <a:solidFill>
            <a:srgbClr val="FFFFFF"/>
          </a:solidFill>
          <a:ln w="9525">
            <a:solidFill>
              <a:srgbClr val="DDE0E5"/>
            </a:solidFill>
          </a:ln>
        </p:spPr>
        <p:txBody>
          <a:bodyPr rtlCol="0" anchor="ctr"/>
          <a:lstStyle/>
          <a:p/>
        </p:txBody>
      </p:sp>
      <p:sp>
        <p:nvSpPr>
          <p:cNvPr id="101" name="feature 4 node"/>
          <p:cNvSpPr/>
          <p:nvPr/>
        </p:nvSpPr>
        <p:spPr>
          <a:xfrm>
            <a:off x="6954012" y="1280160"/>
            <a:ext cx="256032" cy="256032"/>
          </a:xfrm>
          <a:prstGeom prst="ellipse">
            <a:avLst/>
          </a:prstGeom>
          <a:solidFill>
            <a:srgbClr val="0D0F13"/>
          </a:solidFill>
          <a:ln>
            <a:noFill/>
          </a:ln>
        </p:spPr>
        <p:txBody>
          <a:bodyPr rtlCol="0" anchor="ctr" lIns="0" rIns="0" tIns="0" bIns="0"/>
          <a:lstStyle/>
          <a:p>
            <a:pPr algn="ctr"/>
            <a:r>
              <a:rPr sz="700" b="1" i="0">
                <a:solidFill>
                  <a:srgbClr val="FFFFFF"/>
                </a:solidFill>
                <a:latin typeface="Roboto Mono"/>
                <a:ea typeface="Roboto Mono"/>
                <a:cs typeface="Roboto Mono"/>
                <a:sym typeface="Roboto Mono"/>
              </a:rPr>
              <a:t>04</a:t>
            </a:r>
          </a:p>
        </p:txBody>
      </p:sp>
      <p:sp>
        <p:nvSpPr>
          <p:cNvPr id="102" name="feature 4 title"/>
          <p:cNvSpPr txBox="1"/>
          <p:nvPr/>
        </p:nvSpPr>
        <p:spPr>
          <a:xfrm>
            <a:off x="6972300" y="1682496"/>
            <a:ext cx="1641348"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Agent in the receiver’s browser</a:t>
            </a:r>
          </a:p>
        </p:txBody>
      </p:sp>
      <p:sp>
        <p:nvSpPr>
          <p:cNvPr id="103" name="feature 4 text"/>
          <p:cNvSpPr txBox="1"/>
          <p:nvPr/>
        </p:nvSpPr>
        <p:spPr>
          <a:xfrm>
            <a:off x="6972300" y="2103120"/>
            <a:ext cx="1641348" cy="617220"/>
          </a:xfrm>
          <a:prstGeom prst="rect">
            <a:avLst/>
          </a:prstGeom>
          <a:noFill/>
        </p:spPr>
        <p:txBody>
          <a:bodyPr wrap="square" lIns="0" rIns="0" tIns="0" bIns="0" anchor="t"/>
          <a:lstStyle/>
          <a:p>
            <a:pPr algn="l">
              <a:lnSpc>
                <a:spcPct val="110000"/>
              </a:lnSpc>
            </a:pPr>
            <a:r>
              <a:rPr sz="1050" b="0" i="0">
                <a:solidFill>
                  <a:srgbClr val="5B6270"/>
                </a:solidFill>
                <a:latin typeface="Google Sans Flex"/>
                <a:ea typeface="Google Sans Flex"/>
                <a:cs typeface="Google Sans Flex"/>
                <a:sym typeface="Google Sans Flex"/>
              </a:rPr>
              <a:t>Google ADK + Gemini resolves each step on their page, as them.</a:t>
            </a:r>
          </a:p>
        </p:txBody>
      </p:sp>
      <p:sp>
        <p:nvSpPr>
          <p:cNvPr id="104" name="feature 5"/>
          <p:cNvSpPr/>
          <p:nvPr/>
        </p:nvSpPr>
        <p:spPr>
          <a:xfrm>
            <a:off x="384048" y="2976372"/>
            <a:ext cx="1970532" cy="1714500"/>
          </a:xfrm>
          <a:prstGeom prst="roundRect">
            <a:avLst>
              <a:gd name="adj" fmla="val 6000"/>
            </a:avLst>
          </a:prstGeom>
          <a:solidFill>
            <a:srgbClr val="FFFFFF"/>
          </a:solidFill>
          <a:ln w="9525">
            <a:solidFill>
              <a:srgbClr val="DDE0E5"/>
            </a:solidFill>
          </a:ln>
        </p:spPr>
        <p:txBody>
          <a:bodyPr rtlCol="0" anchor="ctr"/>
          <a:lstStyle/>
          <a:p/>
        </p:txBody>
      </p:sp>
      <p:sp>
        <p:nvSpPr>
          <p:cNvPr id="105" name="feature 5 node"/>
          <p:cNvSpPr/>
          <p:nvPr/>
        </p:nvSpPr>
        <p:spPr>
          <a:xfrm>
            <a:off x="548640" y="3177540"/>
            <a:ext cx="256032" cy="256032"/>
          </a:xfrm>
          <a:prstGeom prst="ellipse">
            <a:avLst/>
          </a:prstGeom>
          <a:solidFill>
            <a:srgbClr val="0B8F6E"/>
          </a:solidFill>
          <a:ln>
            <a:noFill/>
          </a:ln>
        </p:spPr>
        <p:txBody>
          <a:bodyPr rtlCol="0" anchor="ctr" lIns="0" rIns="0" tIns="0" bIns="0"/>
          <a:lstStyle/>
          <a:p>
            <a:pPr algn="ctr"/>
            <a:r>
              <a:rPr sz="700" b="1" i="0">
                <a:solidFill>
                  <a:srgbClr val="FFFFFF"/>
                </a:solidFill>
                <a:latin typeface="Roboto Mono"/>
                <a:ea typeface="Roboto Mono"/>
                <a:cs typeface="Roboto Mono"/>
                <a:sym typeface="Roboto Mono"/>
              </a:rPr>
              <a:t>05</a:t>
            </a:r>
          </a:p>
        </p:txBody>
      </p:sp>
      <p:sp>
        <p:nvSpPr>
          <p:cNvPr id="106" name="feature 5 title"/>
          <p:cNvSpPr txBox="1"/>
          <p:nvPr/>
        </p:nvSpPr>
        <p:spPr>
          <a:xfrm>
            <a:off x="566928" y="3579876"/>
            <a:ext cx="1641348"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Policy engine, deny by default</a:t>
            </a:r>
          </a:p>
        </p:txBody>
      </p:sp>
      <p:sp>
        <p:nvSpPr>
          <p:cNvPr id="107" name="feature 5 text"/>
          <p:cNvSpPr txBox="1"/>
          <p:nvPr/>
        </p:nvSpPr>
        <p:spPr>
          <a:xfrm>
            <a:off x="566928" y="4000500"/>
            <a:ext cx="1641348" cy="617220"/>
          </a:xfrm>
          <a:prstGeom prst="rect">
            <a:avLst/>
          </a:prstGeom>
          <a:noFill/>
        </p:spPr>
        <p:txBody>
          <a:bodyPr wrap="square" lIns="0" rIns="0" tIns="0" bIns="0" anchor="t"/>
          <a:lstStyle/>
          <a:p>
            <a:pPr algn="l">
              <a:lnSpc>
                <a:spcPct val="110000"/>
              </a:lnSpc>
            </a:pPr>
            <a:r>
              <a:rPr sz="1050" b="0" i="0">
                <a:solidFill>
                  <a:srgbClr val="5B6270"/>
                </a:solidFill>
                <a:latin typeface="Google Sans Flex"/>
                <a:ea typeface="Google Sans Flex"/>
                <a:cs typeface="Google Sans Flex"/>
                <a:sym typeface="Google Sans Flex"/>
              </a:rPr>
              <a:t>Allow, ask-first and deny rules checked in code before every action.</a:t>
            </a:r>
          </a:p>
        </p:txBody>
      </p:sp>
      <p:sp>
        <p:nvSpPr>
          <p:cNvPr id="108" name="feature 6"/>
          <p:cNvSpPr/>
          <p:nvPr/>
        </p:nvSpPr>
        <p:spPr>
          <a:xfrm>
            <a:off x="2519172" y="2976372"/>
            <a:ext cx="1970532" cy="1714500"/>
          </a:xfrm>
          <a:prstGeom prst="roundRect">
            <a:avLst>
              <a:gd name="adj" fmla="val 6000"/>
            </a:avLst>
          </a:prstGeom>
          <a:solidFill>
            <a:srgbClr val="FFFFFF"/>
          </a:solidFill>
          <a:ln w="9525">
            <a:solidFill>
              <a:srgbClr val="DDE0E5"/>
            </a:solidFill>
          </a:ln>
        </p:spPr>
        <p:txBody>
          <a:bodyPr rtlCol="0" anchor="ctr"/>
          <a:lstStyle/>
          <a:p/>
        </p:txBody>
      </p:sp>
      <p:sp>
        <p:nvSpPr>
          <p:cNvPr id="109" name="feature 6 node"/>
          <p:cNvSpPr/>
          <p:nvPr/>
        </p:nvSpPr>
        <p:spPr>
          <a:xfrm>
            <a:off x="2683764" y="3177540"/>
            <a:ext cx="256032" cy="256032"/>
          </a:xfrm>
          <a:prstGeom prst="ellipse">
            <a:avLst/>
          </a:prstGeom>
          <a:solidFill>
            <a:srgbClr val="0B8F6E"/>
          </a:solidFill>
          <a:ln>
            <a:noFill/>
          </a:ln>
        </p:spPr>
        <p:txBody>
          <a:bodyPr rtlCol="0" anchor="ctr" lIns="0" rIns="0" tIns="0" bIns="0"/>
          <a:lstStyle/>
          <a:p>
            <a:pPr algn="ctr"/>
            <a:r>
              <a:rPr sz="700" b="1" i="0">
                <a:solidFill>
                  <a:srgbClr val="FFFFFF"/>
                </a:solidFill>
                <a:latin typeface="Roboto Mono"/>
                <a:ea typeface="Roboto Mono"/>
                <a:cs typeface="Roboto Mono"/>
                <a:sym typeface="Roboto Mono"/>
              </a:rPr>
              <a:t>06</a:t>
            </a:r>
          </a:p>
        </p:txBody>
      </p:sp>
      <p:sp>
        <p:nvSpPr>
          <p:cNvPr id="110" name="feature 6 title"/>
          <p:cNvSpPr txBox="1"/>
          <p:nvPr/>
        </p:nvSpPr>
        <p:spPr>
          <a:xfrm>
            <a:off x="2702052" y="3579876"/>
            <a:ext cx="1641348"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Single-use action tokens</a:t>
            </a:r>
          </a:p>
        </p:txBody>
      </p:sp>
      <p:sp>
        <p:nvSpPr>
          <p:cNvPr id="111" name="feature 6 text"/>
          <p:cNvSpPr txBox="1"/>
          <p:nvPr/>
        </p:nvSpPr>
        <p:spPr>
          <a:xfrm>
            <a:off x="2702052" y="4000500"/>
            <a:ext cx="1641348" cy="617220"/>
          </a:xfrm>
          <a:prstGeom prst="rect">
            <a:avLst/>
          </a:prstGeom>
          <a:noFill/>
        </p:spPr>
        <p:txBody>
          <a:bodyPr wrap="square" lIns="0" rIns="0" tIns="0" bIns="0" anchor="t"/>
          <a:lstStyle/>
          <a:p>
            <a:pPr algn="l">
              <a:lnSpc>
                <a:spcPct val="110000"/>
              </a:lnSpc>
            </a:pPr>
            <a:r>
              <a:rPr sz="1050" b="0" i="0">
                <a:solidFill>
                  <a:srgbClr val="5B6270"/>
                </a:solidFill>
                <a:latin typeface="Google Sans Flex"/>
                <a:ea typeface="Google Sans Flex"/>
                <a:cs typeface="Google Sans Flex"/>
                <a:sym typeface="Google Sans Flex"/>
              </a:rPr>
              <a:t>Bound to the exact step and element; the extension cannot act without one.</a:t>
            </a:r>
          </a:p>
        </p:txBody>
      </p:sp>
      <p:sp>
        <p:nvSpPr>
          <p:cNvPr id="112" name="feature 7"/>
          <p:cNvSpPr/>
          <p:nvPr/>
        </p:nvSpPr>
        <p:spPr>
          <a:xfrm>
            <a:off x="4654296" y="2976372"/>
            <a:ext cx="1970532" cy="1714500"/>
          </a:xfrm>
          <a:prstGeom prst="roundRect">
            <a:avLst>
              <a:gd name="adj" fmla="val 6000"/>
            </a:avLst>
          </a:prstGeom>
          <a:solidFill>
            <a:srgbClr val="FFFFFF"/>
          </a:solidFill>
          <a:ln w="9525">
            <a:solidFill>
              <a:srgbClr val="DDE0E5"/>
            </a:solidFill>
          </a:ln>
        </p:spPr>
        <p:txBody>
          <a:bodyPr rtlCol="0" anchor="ctr"/>
          <a:lstStyle/>
          <a:p/>
        </p:txBody>
      </p:sp>
      <p:sp>
        <p:nvSpPr>
          <p:cNvPr id="113" name="feature 7 node"/>
          <p:cNvSpPr/>
          <p:nvPr/>
        </p:nvSpPr>
        <p:spPr>
          <a:xfrm>
            <a:off x="4818888" y="3177540"/>
            <a:ext cx="256032" cy="256032"/>
          </a:xfrm>
          <a:prstGeom prst="ellipse">
            <a:avLst/>
          </a:prstGeom>
          <a:solidFill>
            <a:srgbClr val="D63347"/>
          </a:solidFill>
          <a:ln>
            <a:noFill/>
          </a:ln>
        </p:spPr>
        <p:txBody>
          <a:bodyPr rtlCol="0" anchor="ctr" lIns="0" rIns="0" tIns="0" bIns="0"/>
          <a:lstStyle/>
          <a:p>
            <a:pPr algn="ctr"/>
            <a:r>
              <a:rPr sz="700" b="1" i="0">
                <a:solidFill>
                  <a:srgbClr val="FFFFFF"/>
                </a:solidFill>
                <a:latin typeface="Roboto Mono"/>
                <a:ea typeface="Roboto Mono"/>
                <a:cs typeface="Roboto Mono"/>
                <a:sym typeface="Roboto Mono"/>
              </a:rPr>
              <a:t>07</a:t>
            </a:r>
          </a:p>
        </p:txBody>
      </p:sp>
      <p:sp>
        <p:nvSpPr>
          <p:cNvPr id="114" name="feature 7 title"/>
          <p:cNvSpPr txBox="1"/>
          <p:nvPr/>
        </p:nvSpPr>
        <p:spPr>
          <a:xfrm>
            <a:off x="4837176" y="3579876"/>
            <a:ext cx="1641348"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Blocked, in your own words</a:t>
            </a:r>
          </a:p>
        </p:txBody>
      </p:sp>
      <p:sp>
        <p:nvSpPr>
          <p:cNvPr id="115" name="feature 7 text"/>
          <p:cNvSpPr txBox="1"/>
          <p:nvPr/>
        </p:nvSpPr>
        <p:spPr>
          <a:xfrm>
            <a:off x="4837176" y="4000500"/>
            <a:ext cx="1641348" cy="617220"/>
          </a:xfrm>
          <a:prstGeom prst="rect">
            <a:avLst/>
          </a:prstGeom>
          <a:noFill/>
        </p:spPr>
        <p:txBody>
          <a:bodyPr wrap="square" lIns="0" rIns="0" tIns="0" bIns="0" anchor="t"/>
          <a:lstStyle/>
          <a:p>
            <a:pPr algn="l">
              <a:lnSpc>
                <a:spcPct val="110000"/>
              </a:lnSpc>
            </a:pPr>
            <a:r>
              <a:rPr sz="1050" b="0" i="0">
                <a:solidFill>
                  <a:srgbClr val="5B6270"/>
                </a:solidFill>
                <a:latin typeface="Google Sans Flex"/>
                <a:ea typeface="Google Sans Flex"/>
                <a:cs typeface="Google Sans Flex"/>
                <a:sym typeface="Google Sans Flex"/>
              </a:rPr>
              <a:t>When the agent reaches the line, it stops and quotes the creator’s sentence.</a:t>
            </a:r>
          </a:p>
        </p:txBody>
      </p:sp>
      <p:sp>
        <p:nvSpPr>
          <p:cNvPr id="116" name="feature 8"/>
          <p:cNvSpPr/>
          <p:nvPr/>
        </p:nvSpPr>
        <p:spPr>
          <a:xfrm>
            <a:off x="6789420" y="2976372"/>
            <a:ext cx="1970532" cy="1714500"/>
          </a:xfrm>
          <a:prstGeom prst="roundRect">
            <a:avLst>
              <a:gd name="adj" fmla="val 6000"/>
            </a:avLst>
          </a:prstGeom>
          <a:solidFill>
            <a:srgbClr val="FFFFFF"/>
          </a:solidFill>
          <a:ln w="9525">
            <a:solidFill>
              <a:srgbClr val="DDE0E5"/>
            </a:solidFill>
          </a:ln>
        </p:spPr>
        <p:txBody>
          <a:bodyPr rtlCol="0" anchor="ctr"/>
          <a:lstStyle/>
          <a:p/>
        </p:txBody>
      </p:sp>
      <p:sp>
        <p:nvSpPr>
          <p:cNvPr id="117" name="feature 8 node"/>
          <p:cNvSpPr/>
          <p:nvPr/>
        </p:nvSpPr>
        <p:spPr>
          <a:xfrm>
            <a:off x="6954012" y="3177540"/>
            <a:ext cx="256032" cy="256032"/>
          </a:xfrm>
          <a:prstGeom prst="ellipse">
            <a:avLst/>
          </a:prstGeom>
          <a:solidFill>
            <a:srgbClr val="0D0F13"/>
          </a:solidFill>
          <a:ln>
            <a:noFill/>
          </a:ln>
        </p:spPr>
        <p:txBody>
          <a:bodyPr rtlCol="0" anchor="ctr" lIns="0" rIns="0" tIns="0" bIns="0"/>
          <a:lstStyle/>
          <a:p>
            <a:pPr algn="ctr"/>
            <a:r>
              <a:rPr sz="700" b="1" i="0">
                <a:solidFill>
                  <a:srgbClr val="FFFFFF"/>
                </a:solidFill>
                <a:latin typeface="Roboto Mono"/>
                <a:ea typeface="Roboto Mono"/>
                <a:cs typeface="Roboto Mono"/>
                <a:sym typeface="Roboto Mono"/>
              </a:rPr>
              <a:t>08</a:t>
            </a:r>
          </a:p>
        </p:txBody>
      </p:sp>
      <p:sp>
        <p:nvSpPr>
          <p:cNvPr id="118" name="feature 8 title"/>
          <p:cNvSpPr txBox="1"/>
          <p:nvPr/>
        </p:nvSpPr>
        <p:spPr>
          <a:xfrm>
            <a:off x="6972300" y="3579876"/>
            <a:ext cx="1641348"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Parameters &amp; cross-app runs</a:t>
            </a:r>
          </a:p>
        </p:txBody>
      </p:sp>
      <p:sp>
        <p:nvSpPr>
          <p:cNvPr id="119" name="feature 8 text"/>
          <p:cNvSpPr txBox="1"/>
          <p:nvPr/>
        </p:nvSpPr>
        <p:spPr>
          <a:xfrm>
            <a:off x="6972300" y="4000500"/>
            <a:ext cx="1641348" cy="617220"/>
          </a:xfrm>
          <a:prstGeom prst="rect">
            <a:avLst/>
          </a:prstGeom>
          <a:noFill/>
        </p:spPr>
        <p:txBody>
          <a:bodyPr wrap="square" lIns="0" rIns="0" tIns="0" bIns="0" anchor="t"/>
          <a:lstStyle/>
          <a:p>
            <a:pPr algn="l">
              <a:lnSpc>
                <a:spcPct val="110000"/>
              </a:lnSpc>
            </a:pPr>
            <a:r>
              <a:rPr sz="1050" b="0" i="0">
                <a:solidFill>
                  <a:srgbClr val="5B6270"/>
                </a:solidFill>
                <a:latin typeface="Google Sans Flex"/>
                <a:ea typeface="Google Sans Flex"/>
                <a:cs typeface="Google Sans Flex"/>
                <a:sym typeface="Google Sans Flex"/>
              </a:rPr>
              <a:t>Change a recipient or a theme per run; one link can span several apps.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03504"/>
            <a:ext cx="8943000"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b="0" i="0">
                <a:solidFill>
                  <a:srgbClr val="1E2228"/>
                </a:solidFill>
                <a:latin typeface="Google Sans Flex SemiBold"/>
                <a:ea typeface="Google Sans Flex SemiBold"/>
                <a:cs typeface="Google Sans Flex SemiBold"/>
                <a:sym typeface="Google Sans Flex SemiBold"/>
              </a:rPr>
              <a:t>Process flow</a:t>
            </a:r>
            <a:endParaRPr sz="1600">
              <a:latin typeface="Google Sans Flex Medium"/>
              <a:ea typeface="Google Sans Flex Medium"/>
              <a:cs typeface="Google Sans Flex Medium"/>
              <a:sym typeface="Google Sans Flex Medium"/>
            </a:endParaRPr>
          </a:p>
        </p:txBody>
      </p:sp>
      <p:sp>
        <p:nvSpPr>
          <p:cNvPr id="96" name="lane CREATOR"/>
          <p:cNvSpPr/>
          <p:nvPr/>
        </p:nvSpPr>
        <p:spPr>
          <a:xfrm>
            <a:off x="384048" y="1078992"/>
            <a:ext cx="8375904" cy="1481328"/>
          </a:xfrm>
          <a:prstGeom prst="roundRect">
            <a:avLst>
              <a:gd name="adj" fmla="val 6000"/>
            </a:avLst>
          </a:prstGeom>
          <a:solidFill>
            <a:srgbClr val="F4F5F7"/>
          </a:solidFill>
          <a:ln>
            <a:noFill/>
          </a:ln>
        </p:spPr>
        <p:txBody>
          <a:bodyPr rtlCol="0" anchor="ctr"/>
          <a:lstStyle/>
          <a:p/>
        </p:txBody>
      </p:sp>
      <p:sp>
        <p:nvSpPr>
          <p:cNvPr id="97" name="lane CREATOR label"/>
          <p:cNvSpPr txBox="1"/>
          <p:nvPr/>
        </p:nvSpPr>
        <p:spPr>
          <a:xfrm>
            <a:off x="548640" y="1188720"/>
            <a:ext cx="1371600" cy="201168"/>
          </a:xfrm>
          <a:prstGeom prst="rect">
            <a:avLst/>
          </a:prstGeom>
          <a:noFill/>
        </p:spPr>
        <p:txBody>
          <a:bodyPr wrap="square" lIns="0" rIns="0" tIns="0" bIns="0" anchor="t"/>
          <a:lstStyle/>
          <a:p>
            <a:pPr algn="l"/>
            <a:r>
              <a:rPr sz="850" b="0" i="0">
                <a:solidFill>
                  <a:srgbClr val="5B6270"/>
                </a:solidFill>
                <a:latin typeface="Roboto Mono"/>
                <a:ea typeface="Roboto Mono"/>
                <a:cs typeface="Roboto Mono"/>
                <a:sym typeface="Roboto Mono"/>
              </a:rPr>
              <a:t>CREATOR</a:t>
            </a:r>
          </a:p>
        </p:txBody>
      </p:sp>
      <p:sp>
        <p:nvSpPr>
          <p:cNvPr id="98" name="lane RECEIVER"/>
          <p:cNvSpPr/>
          <p:nvPr/>
        </p:nvSpPr>
        <p:spPr>
          <a:xfrm>
            <a:off x="384048" y="2907792"/>
            <a:ext cx="8375904" cy="1481328"/>
          </a:xfrm>
          <a:prstGeom prst="roundRect">
            <a:avLst>
              <a:gd name="adj" fmla="val 6000"/>
            </a:avLst>
          </a:prstGeom>
          <a:solidFill>
            <a:srgbClr val="F4F5F7"/>
          </a:solidFill>
          <a:ln>
            <a:noFill/>
          </a:ln>
        </p:spPr>
        <p:txBody>
          <a:bodyPr rtlCol="0" anchor="ctr"/>
          <a:lstStyle/>
          <a:p/>
        </p:txBody>
      </p:sp>
      <p:sp>
        <p:nvSpPr>
          <p:cNvPr id="99" name="lane RECEIVER label"/>
          <p:cNvSpPr txBox="1"/>
          <p:nvPr/>
        </p:nvSpPr>
        <p:spPr>
          <a:xfrm>
            <a:off x="548640" y="3017520"/>
            <a:ext cx="1371600" cy="201168"/>
          </a:xfrm>
          <a:prstGeom prst="rect">
            <a:avLst/>
          </a:prstGeom>
          <a:noFill/>
        </p:spPr>
        <p:txBody>
          <a:bodyPr wrap="square" lIns="0" rIns="0" tIns="0" bIns="0" anchor="t"/>
          <a:lstStyle/>
          <a:p>
            <a:pPr algn="l"/>
            <a:r>
              <a:rPr sz="850" b="0" i="0">
                <a:solidFill>
                  <a:srgbClr val="5B6270"/>
                </a:solidFill>
                <a:latin typeface="Roboto Mono"/>
                <a:ea typeface="Roboto Mono"/>
                <a:cs typeface="Roboto Mono"/>
                <a:sym typeface="Roboto Mono"/>
              </a:rPr>
              <a:t>RECEIVER</a:t>
            </a:r>
          </a:p>
        </p:txBody>
      </p:sp>
      <p:sp>
        <p:nvSpPr>
          <p:cNvPr id="100" name="creator step 1"/>
          <p:cNvSpPr/>
          <p:nvPr/>
        </p:nvSpPr>
        <p:spPr>
          <a:xfrm>
            <a:off x="566928" y="1517904"/>
            <a:ext cx="1810512" cy="841248"/>
          </a:xfrm>
          <a:prstGeom prst="roundRect">
            <a:avLst>
              <a:gd name="adj" fmla="val 10000"/>
            </a:avLst>
          </a:prstGeom>
          <a:solidFill>
            <a:srgbClr val="0D0F13"/>
          </a:solidFill>
          <a:ln>
            <a:noFill/>
          </a:ln>
        </p:spPr>
        <p:txBody>
          <a:bodyPr rtlCol="0" anchor="ctr"/>
          <a:lstStyle/>
          <a:p/>
        </p:txBody>
      </p:sp>
      <p:sp>
        <p:nvSpPr>
          <p:cNvPr id="101" name="creator step 1 title"/>
          <p:cNvSpPr txBox="1"/>
          <p:nvPr/>
        </p:nvSpPr>
        <p:spPr>
          <a:xfrm>
            <a:off x="694944" y="1636776"/>
            <a:ext cx="1554480" cy="274320"/>
          </a:xfrm>
          <a:prstGeom prst="rect">
            <a:avLst/>
          </a:prstGeom>
          <a:noFill/>
        </p:spPr>
        <p:txBody>
          <a:bodyPr wrap="square" lIns="0" rIns="0" tIns="0" bIns="0" anchor="t"/>
          <a:lstStyle/>
          <a:p>
            <a:pPr algn="l"/>
            <a:r>
              <a:rPr sz="1150" b="0" i="0">
                <a:solidFill>
                  <a:srgbClr val="FFFFFF"/>
                </a:solidFill>
                <a:latin typeface="Google Sans Flex SemiBold"/>
                <a:ea typeface="Google Sans Flex SemiBold"/>
                <a:cs typeface="Google Sans Flex SemiBold"/>
                <a:sym typeface="Google Sans Flex SemiBold"/>
              </a:rPr>
              <a:t>Record the task</a:t>
            </a:r>
          </a:p>
        </p:txBody>
      </p:sp>
      <p:sp>
        <p:nvSpPr>
          <p:cNvPr id="102" name="creator step 1 sub"/>
          <p:cNvSpPr txBox="1"/>
          <p:nvPr/>
        </p:nvSpPr>
        <p:spPr>
          <a:xfrm>
            <a:off x="694944" y="1929384"/>
            <a:ext cx="1554480" cy="384048"/>
          </a:xfrm>
          <a:prstGeom prst="rect">
            <a:avLst/>
          </a:prstGeom>
          <a:noFill/>
        </p:spPr>
        <p:txBody>
          <a:bodyPr wrap="square" lIns="0" rIns="0" tIns="0" bIns="0" anchor="t"/>
          <a:lstStyle/>
          <a:p>
            <a:pPr algn="l">
              <a:lnSpc>
                <a:spcPct val="105000"/>
              </a:lnSpc>
            </a:pPr>
            <a:r>
              <a:rPr sz="900" b="0" i="0">
                <a:solidFill>
                  <a:srgbClr val="C3C8D1"/>
                </a:solidFill>
                <a:latin typeface="Google Sans Flex"/>
                <a:ea typeface="Google Sans Flex"/>
                <a:cs typeface="Google Sans Flex"/>
                <a:sym typeface="Google Sans Flex"/>
              </a:rPr>
              <a:t>Click through it once, in any web app</a:t>
            </a:r>
          </a:p>
        </p:txBody>
      </p:sp>
      <p:cxnSp>
        <p:nvCxnSpPr>
          <p:cNvPr id="103" name="creator arrow 1"/>
          <p:cNvCxnSpPr/>
          <p:nvPr/>
        </p:nvCxnSpPr>
        <p:spPr>
          <a:xfrm>
            <a:off x="2377440" y="1938528"/>
            <a:ext cx="256032" cy="0"/>
          </a:xfrm>
          <a:prstGeom prst="line">
            <a:avLst/>
          </a:prstGeom>
          <a:ln w="15875">
            <a:solidFill>
              <a:srgbClr val="5B62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creator step 2"/>
          <p:cNvSpPr/>
          <p:nvPr/>
        </p:nvSpPr>
        <p:spPr>
          <a:xfrm>
            <a:off x="2633472" y="1517904"/>
            <a:ext cx="1810512" cy="841248"/>
          </a:xfrm>
          <a:prstGeom prst="roundRect">
            <a:avLst>
              <a:gd name="adj" fmla="val 10000"/>
            </a:avLst>
          </a:prstGeom>
          <a:solidFill>
            <a:srgbClr val="0D0F13"/>
          </a:solidFill>
          <a:ln>
            <a:noFill/>
          </a:ln>
        </p:spPr>
        <p:txBody>
          <a:bodyPr rtlCol="0" anchor="ctr"/>
          <a:lstStyle/>
          <a:p/>
        </p:txBody>
      </p:sp>
      <p:sp>
        <p:nvSpPr>
          <p:cNvPr id="105" name="creator step 2 title"/>
          <p:cNvSpPr txBox="1"/>
          <p:nvPr/>
        </p:nvSpPr>
        <p:spPr>
          <a:xfrm>
            <a:off x="2761488" y="1636776"/>
            <a:ext cx="1554480" cy="274320"/>
          </a:xfrm>
          <a:prstGeom prst="rect">
            <a:avLst/>
          </a:prstGeom>
          <a:noFill/>
        </p:spPr>
        <p:txBody>
          <a:bodyPr wrap="square" lIns="0" rIns="0" tIns="0" bIns="0" anchor="t"/>
          <a:lstStyle/>
          <a:p>
            <a:pPr algn="l"/>
            <a:r>
              <a:rPr sz="1150" b="0" i="0">
                <a:solidFill>
                  <a:srgbClr val="FFFFFF"/>
                </a:solidFill>
                <a:latin typeface="Google Sans Flex SemiBold"/>
                <a:ea typeface="Google Sans Flex SemiBold"/>
                <a:cs typeface="Google Sans Flex SemiBold"/>
                <a:sym typeface="Google Sans Flex SemiBold"/>
              </a:rPr>
              <a:t>Write the limits</a:t>
            </a:r>
          </a:p>
        </p:txBody>
      </p:sp>
      <p:sp>
        <p:nvSpPr>
          <p:cNvPr id="106" name="creator step 2 sub"/>
          <p:cNvSpPr txBox="1"/>
          <p:nvPr/>
        </p:nvSpPr>
        <p:spPr>
          <a:xfrm>
            <a:off x="2761488" y="1929384"/>
            <a:ext cx="1554480" cy="384048"/>
          </a:xfrm>
          <a:prstGeom prst="rect">
            <a:avLst/>
          </a:prstGeom>
          <a:noFill/>
        </p:spPr>
        <p:txBody>
          <a:bodyPr wrap="square" lIns="0" rIns="0" tIns="0" bIns="0" anchor="t"/>
          <a:lstStyle/>
          <a:p>
            <a:pPr algn="l">
              <a:lnSpc>
                <a:spcPct val="105000"/>
              </a:lnSpc>
            </a:pPr>
            <a:r>
              <a:rPr sz="900" b="0" i="0">
                <a:solidFill>
                  <a:srgbClr val="C3C8D1"/>
                </a:solidFill>
                <a:latin typeface="Google Sans Flex"/>
                <a:ea typeface="Google Sans Flex"/>
                <a:cs typeface="Google Sans Flex"/>
                <a:sym typeface="Google Sans Flex"/>
              </a:rPr>
              <a:t>“don’t delete anything, ask before sending”</a:t>
            </a:r>
          </a:p>
        </p:txBody>
      </p:sp>
      <p:cxnSp>
        <p:nvCxnSpPr>
          <p:cNvPr id="107" name="creator arrow 2"/>
          <p:cNvCxnSpPr/>
          <p:nvPr/>
        </p:nvCxnSpPr>
        <p:spPr>
          <a:xfrm>
            <a:off x="4443984" y="1938528"/>
            <a:ext cx="256032" cy="0"/>
          </a:xfrm>
          <a:prstGeom prst="line">
            <a:avLst/>
          </a:prstGeom>
          <a:ln w="15875">
            <a:solidFill>
              <a:srgbClr val="5B62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 name="creator step 3"/>
          <p:cNvSpPr/>
          <p:nvPr/>
        </p:nvSpPr>
        <p:spPr>
          <a:xfrm>
            <a:off x="4700016" y="1517904"/>
            <a:ext cx="1810512" cy="841248"/>
          </a:xfrm>
          <a:prstGeom prst="roundRect">
            <a:avLst>
              <a:gd name="adj" fmla="val 10000"/>
            </a:avLst>
          </a:prstGeom>
          <a:solidFill>
            <a:srgbClr val="0D0F13"/>
          </a:solidFill>
          <a:ln>
            <a:noFill/>
          </a:ln>
        </p:spPr>
        <p:txBody>
          <a:bodyPr rtlCol="0" anchor="ctr"/>
          <a:lstStyle/>
          <a:p/>
        </p:txBody>
      </p:sp>
      <p:sp>
        <p:nvSpPr>
          <p:cNvPr id="109" name="creator step 3 title"/>
          <p:cNvSpPr txBox="1"/>
          <p:nvPr/>
        </p:nvSpPr>
        <p:spPr>
          <a:xfrm>
            <a:off x="4828032" y="1636776"/>
            <a:ext cx="1554480" cy="274320"/>
          </a:xfrm>
          <a:prstGeom prst="rect">
            <a:avLst/>
          </a:prstGeom>
          <a:noFill/>
        </p:spPr>
        <p:txBody>
          <a:bodyPr wrap="square" lIns="0" rIns="0" tIns="0" bIns="0" anchor="t"/>
          <a:lstStyle/>
          <a:p>
            <a:pPr algn="l"/>
            <a:r>
              <a:rPr sz="1150" b="0" i="0">
                <a:solidFill>
                  <a:srgbClr val="FFFFFF"/>
                </a:solidFill>
                <a:latin typeface="Google Sans Flex SemiBold"/>
                <a:ea typeface="Google Sans Flex SemiBold"/>
                <a:cs typeface="Google Sans Flex SemiBold"/>
                <a:sym typeface="Google Sans Flex SemiBold"/>
              </a:rPr>
              <a:t>Gemini compiles</a:t>
            </a:r>
          </a:p>
        </p:txBody>
      </p:sp>
      <p:sp>
        <p:nvSpPr>
          <p:cNvPr id="110" name="creator step 3 sub"/>
          <p:cNvSpPr txBox="1"/>
          <p:nvPr/>
        </p:nvSpPr>
        <p:spPr>
          <a:xfrm>
            <a:off x="4828032" y="1929384"/>
            <a:ext cx="1554480" cy="384048"/>
          </a:xfrm>
          <a:prstGeom prst="rect">
            <a:avLst/>
          </a:prstGeom>
          <a:noFill/>
        </p:spPr>
        <p:txBody>
          <a:bodyPr wrap="square" lIns="0" rIns="0" tIns="0" bIns="0" anchor="t"/>
          <a:lstStyle/>
          <a:p>
            <a:pPr algn="l">
              <a:lnSpc>
                <a:spcPct val="105000"/>
              </a:lnSpc>
            </a:pPr>
            <a:r>
              <a:rPr sz="900" b="0" i="0">
                <a:solidFill>
                  <a:srgbClr val="C3C8D1"/>
                </a:solidFill>
                <a:latin typeface="Google Sans Flex"/>
                <a:ea typeface="Google Sans Flex"/>
                <a:cs typeface="Google Sans Flex"/>
                <a:sym typeface="Google Sans Flex"/>
              </a:rPr>
              <a:t>the steps into a workflow and the sentence into rules</a:t>
            </a:r>
          </a:p>
        </p:txBody>
      </p:sp>
      <p:cxnSp>
        <p:nvCxnSpPr>
          <p:cNvPr id="111" name="creator arrow 3"/>
          <p:cNvCxnSpPr/>
          <p:nvPr/>
        </p:nvCxnSpPr>
        <p:spPr>
          <a:xfrm>
            <a:off x="6510528" y="1938528"/>
            <a:ext cx="256032" cy="0"/>
          </a:xfrm>
          <a:prstGeom prst="line">
            <a:avLst/>
          </a:prstGeom>
          <a:ln w="15875">
            <a:solidFill>
              <a:srgbClr val="5B62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2" name="creator step 4"/>
          <p:cNvSpPr/>
          <p:nvPr/>
        </p:nvSpPr>
        <p:spPr>
          <a:xfrm>
            <a:off x="6766560" y="1517904"/>
            <a:ext cx="1810512" cy="841248"/>
          </a:xfrm>
          <a:prstGeom prst="roundRect">
            <a:avLst>
              <a:gd name="adj" fmla="val 10000"/>
            </a:avLst>
          </a:prstGeom>
          <a:solidFill>
            <a:srgbClr val="0D0F13"/>
          </a:solidFill>
          <a:ln>
            <a:noFill/>
          </a:ln>
        </p:spPr>
        <p:txBody>
          <a:bodyPr rtlCol="0" anchor="ctr"/>
          <a:lstStyle/>
          <a:p/>
        </p:txBody>
      </p:sp>
      <p:sp>
        <p:nvSpPr>
          <p:cNvPr id="113" name="creator step 4 title"/>
          <p:cNvSpPr txBox="1"/>
          <p:nvPr/>
        </p:nvSpPr>
        <p:spPr>
          <a:xfrm>
            <a:off x="6894576" y="1636776"/>
            <a:ext cx="1554480" cy="274320"/>
          </a:xfrm>
          <a:prstGeom prst="rect">
            <a:avLst/>
          </a:prstGeom>
          <a:noFill/>
        </p:spPr>
        <p:txBody>
          <a:bodyPr wrap="square" lIns="0" rIns="0" tIns="0" bIns="0" anchor="t"/>
          <a:lstStyle/>
          <a:p>
            <a:pPr algn="l"/>
            <a:r>
              <a:rPr sz="1150" b="0" i="0">
                <a:solidFill>
                  <a:srgbClr val="FFFFFF"/>
                </a:solidFill>
                <a:latin typeface="Google Sans Flex SemiBold"/>
                <a:ea typeface="Google Sans Flex SemiBold"/>
                <a:cs typeface="Google Sans Flex SemiBold"/>
                <a:sym typeface="Google Sans Flex SemiBold"/>
              </a:rPr>
              <a:t>Share the link</a:t>
            </a:r>
          </a:p>
        </p:txBody>
      </p:sp>
      <p:sp>
        <p:nvSpPr>
          <p:cNvPr id="114" name="creator step 4 sub"/>
          <p:cNvSpPr txBox="1"/>
          <p:nvPr/>
        </p:nvSpPr>
        <p:spPr>
          <a:xfrm>
            <a:off x="6894576" y="1929384"/>
            <a:ext cx="1554480" cy="384048"/>
          </a:xfrm>
          <a:prstGeom prst="rect">
            <a:avLst/>
          </a:prstGeom>
          <a:noFill/>
        </p:spPr>
        <p:txBody>
          <a:bodyPr wrap="square" lIns="0" rIns="0" tIns="0" bIns="0" anchor="t"/>
          <a:lstStyle/>
          <a:p>
            <a:pPr algn="l">
              <a:lnSpc>
                <a:spcPct val="105000"/>
              </a:lnSpc>
            </a:pPr>
            <a:r>
              <a:rPr sz="900" b="0" i="0">
                <a:solidFill>
                  <a:srgbClr val="C3C8D1"/>
                </a:solidFill>
                <a:latin typeface="Google Sans Flex"/>
                <a:ea typeface="Google Sans Flex"/>
                <a:cs typeface="Google Sans Flex"/>
                <a:sym typeface="Google Sans Flex"/>
              </a:rPr>
              <a:t>published with a consent page, on Cloud Run</a:t>
            </a:r>
          </a:p>
        </p:txBody>
      </p:sp>
      <p:sp>
        <p:nvSpPr>
          <p:cNvPr id="115" name="receiver step 1"/>
          <p:cNvSpPr/>
          <p:nvPr/>
        </p:nvSpPr>
        <p:spPr>
          <a:xfrm>
            <a:off x="566928" y="3346704"/>
            <a:ext cx="1810512" cy="841248"/>
          </a:xfrm>
          <a:prstGeom prst="roundRect">
            <a:avLst>
              <a:gd name="adj" fmla="val 10000"/>
            </a:avLst>
          </a:prstGeom>
          <a:solidFill>
            <a:srgbClr val="0D0F13"/>
          </a:solidFill>
          <a:ln>
            <a:noFill/>
          </a:ln>
        </p:spPr>
        <p:txBody>
          <a:bodyPr rtlCol="0" anchor="ctr"/>
          <a:lstStyle/>
          <a:p/>
        </p:txBody>
      </p:sp>
      <p:sp>
        <p:nvSpPr>
          <p:cNvPr id="116" name="receiver step 1 title"/>
          <p:cNvSpPr txBox="1"/>
          <p:nvPr/>
        </p:nvSpPr>
        <p:spPr>
          <a:xfrm>
            <a:off x="694944" y="3465576"/>
            <a:ext cx="1554480" cy="274320"/>
          </a:xfrm>
          <a:prstGeom prst="rect">
            <a:avLst/>
          </a:prstGeom>
          <a:noFill/>
        </p:spPr>
        <p:txBody>
          <a:bodyPr wrap="square" lIns="0" rIns="0" tIns="0" bIns="0" anchor="t"/>
          <a:lstStyle/>
          <a:p>
            <a:pPr algn="l"/>
            <a:r>
              <a:rPr sz="1150" b="0" i="0">
                <a:solidFill>
                  <a:srgbClr val="FFFFFF"/>
                </a:solidFill>
                <a:latin typeface="Google Sans Flex SemiBold"/>
                <a:ea typeface="Google Sans Flex SemiBold"/>
                <a:cs typeface="Google Sans Flex SemiBold"/>
                <a:sym typeface="Google Sans Flex SemiBold"/>
              </a:rPr>
              <a:t>Open &amp; consent</a:t>
            </a:r>
          </a:p>
        </p:txBody>
      </p:sp>
      <p:sp>
        <p:nvSpPr>
          <p:cNvPr id="117" name="receiver step 1 sub"/>
          <p:cNvSpPr txBox="1"/>
          <p:nvPr/>
        </p:nvSpPr>
        <p:spPr>
          <a:xfrm>
            <a:off x="694944" y="3758184"/>
            <a:ext cx="1554480" cy="384048"/>
          </a:xfrm>
          <a:prstGeom prst="rect">
            <a:avLst/>
          </a:prstGeom>
          <a:noFill/>
        </p:spPr>
        <p:txBody>
          <a:bodyPr wrap="square" lIns="0" rIns="0" tIns="0" bIns="0" anchor="t"/>
          <a:lstStyle/>
          <a:p>
            <a:pPr algn="l">
              <a:lnSpc>
                <a:spcPct val="105000"/>
              </a:lnSpc>
            </a:pPr>
            <a:r>
              <a:rPr sz="900" b="0" i="0">
                <a:solidFill>
                  <a:srgbClr val="C3C8D1"/>
                </a:solidFill>
                <a:latin typeface="Google Sans Flex"/>
                <a:ea typeface="Google Sans Flex"/>
                <a:cs typeface="Google Sans Flex"/>
                <a:sym typeface="Google Sans Flex"/>
              </a:rPr>
              <a:t>read what it does and what it may never do, press Run</a:t>
            </a:r>
          </a:p>
        </p:txBody>
      </p:sp>
      <p:cxnSp>
        <p:nvCxnSpPr>
          <p:cNvPr id="118" name="receiver arrow 1"/>
          <p:cNvCxnSpPr/>
          <p:nvPr/>
        </p:nvCxnSpPr>
        <p:spPr>
          <a:xfrm>
            <a:off x="2377440" y="3767328"/>
            <a:ext cx="256032" cy="0"/>
          </a:xfrm>
          <a:prstGeom prst="line">
            <a:avLst/>
          </a:prstGeom>
          <a:ln w="15875">
            <a:solidFill>
              <a:srgbClr val="5B62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9" name="receiver step 2"/>
          <p:cNvSpPr/>
          <p:nvPr/>
        </p:nvSpPr>
        <p:spPr>
          <a:xfrm>
            <a:off x="2633472" y="3346704"/>
            <a:ext cx="1810512" cy="841248"/>
          </a:xfrm>
          <a:prstGeom prst="roundRect">
            <a:avLst>
              <a:gd name="adj" fmla="val 10000"/>
            </a:avLst>
          </a:prstGeom>
          <a:solidFill>
            <a:srgbClr val="0D0F13"/>
          </a:solidFill>
          <a:ln>
            <a:noFill/>
          </a:ln>
        </p:spPr>
        <p:txBody>
          <a:bodyPr rtlCol="0" anchor="ctr"/>
          <a:lstStyle/>
          <a:p/>
        </p:txBody>
      </p:sp>
      <p:sp>
        <p:nvSpPr>
          <p:cNvPr id="120" name="receiver step 2 title"/>
          <p:cNvSpPr txBox="1"/>
          <p:nvPr/>
        </p:nvSpPr>
        <p:spPr>
          <a:xfrm>
            <a:off x="2761488" y="3465576"/>
            <a:ext cx="1554480" cy="274320"/>
          </a:xfrm>
          <a:prstGeom prst="rect">
            <a:avLst/>
          </a:prstGeom>
          <a:noFill/>
        </p:spPr>
        <p:txBody>
          <a:bodyPr wrap="square" lIns="0" rIns="0" tIns="0" bIns="0" anchor="t"/>
          <a:lstStyle/>
          <a:p>
            <a:pPr algn="l"/>
            <a:r>
              <a:rPr sz="1150" b="0" i="0">
                <a:solidFill>
                  <a:srgbClr val="FFFFFF"/>
                </a:solidFill>
                <a:latin typeface="Google Sans Flex SemiBold"/>
                <a:ea typeface="Google Sans Flex SemiBold"/>
                <a:cs typeface="Google Sans Flex SemiBold"/>
                <a:sym typeface="Google Sans Flex SemiBold"/>
              </a:rPr>
              <a:t>Agent proposes</a:t>
            </a:r>
          </a:p>
        </p:txBody>
      </p:sp>
      <p:sp>
        <p:nvSpPr>
          <p:cNvPr id="121" name="receiver step 2 sub"/>
          <p:cNvSpPr txBox="1"/>
          <p:nvPr/>
        </p:nvSpPr>
        <p:spPr>
          <a:xfrm>
            <a:off x="2761488" y="3758184"/>
            <a:ext cx="1554480" cy="384048"/>
          </a:xfrm>
          <a:prstGeom prst="rect">
            <a:avLst/>
          </a:prstGeom>
          <a:noFill/>
        </p:spPr>
        <p:txBody>
          <a:bodyPr wrap="square" lIns="0" rIns="0" tIns="0" bIns="0" anchor="t"/>
          <a:lstStyle/>
          <a:p>
            <a:pPr algn="l">
              <a:lnSpc>
                <a:spcPct val="105000"/>
              </a:lnSpc>
            </a:pPr>
            <a:r>
              <a:rPr sz="900" b="0" i="0">
                <a:solidFill>
                  <a:srgbClr val="C3C8D1"/>
                </a:solidFill>
                <a:latin typeface="Google Sans Flex"/>
                <a:ea typeface="Google Sans Flex"/>
                <a:cs typeface="Google Sans Flex"/>
                <a:sym typeface="Google Sans Flex"/>
              </a:rPr>
              <a:t>the next action on their page (Google ADK + Gemini)</a:t>
            </a:r>
          </a:p>
        </p:txBody>
      </p:sp>
      <p:cxnSp>
        <p:nvCxnSpPr>
          <p:cNvPr id="122" name="receiver arrow 2"/>
          <p:cNvCxnSpPr/>
          <p:nvPr/>
        </p:nvCxnSpPr>
        <p:spPr>
          <a:xfrm>
            <a:off x="4443984" y="3767328"/>
            <a:ext cx="256032" cy="0"/>
          </a:xfrm>
          <a:prstGeom prst="line">
            <a:avLst/>
          </a:prstGeom>
          <a:ln w="15875">
            <a:solidFill>
              <a:srgbClr val="5B62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3" name="receiver step 3"/>
          <p:cNvSpPr/>
          <p:nvPr/>
        </p:nvSpPr>
        <p:spPr>
          <a:xfrm>
            <a:off x="4700016" y="3346704"/>
            <a:ext cx="1810512" cy="841248"/>
          </a:xfrm>
          <a:prstGeom prst="roundRect">
            <a:avLst>
              <a:gd name="adj" fmla="val 10000"/>
            </a:avLst>
          </a:prstGeom>
          <a:solidFill>
            <a:srgbClr val="0D0F13"/>
          </a:solidFill>
          <a:ln>
            <a:noFill/>
          </a:ln>
        </p:spPr>
        <p:txBody>
          <a:bodyPr rtlCol="0" anchor="ctr"/>
          <a:lstStyle/>
          <a:p/>
        </p:txBody>
      </p:sp>
      <p:sp>
        <p:nvSpPr>
          <p:cNvPr id="124" name="receiver step 3 title"/>
          <p:cNvSpPr txBox="1"/>
          <p:nvPr/>
        </p:nvSpPr>
        <p:spPr>
          <a:xfrm>
            <a:off x="4828032" y="3465576"/>
            <a:ext cx="1554480" cy="274320"/>
          </a:xfrm>
          <a:prstGeom prst="rect">
            <a:avLst/>
          </a:prstGeom>
          <a:noFill/>
        </p:spPr>
        <p:txBody>
          <a:bodyPr wrap="square" lIns="0" rIns="0" tIns="0" bIns="0" anchor="t"/>
          <a:lstStyle/>
          <a:p>
            <a:pPr algn="l"/>
            <a:r>
              <a:rPr sz="1150" b="0" i="0">
                <a:solidFill>
                  <a:srgbClr val="FFFFFF"/>
                </a:solidFill>
                <a:latin typeface="Google Sans Flex SemiBold"/>
                <a:ea typeface="Google Sans Flex SemiBold"/>
                <a:cs typeface="Google Sans Flex SemiBold"/>
                <a:sym typeface="Google Sans Flex SemiBold"/>
              </a:rPr>
              <a:t>Policy engine decides</a:t>
            </a:r>
          </a:p>
        </p:txBody>
      </p:sp>
      <p:sp>
        <p:nvSpPr>
          <p:cNvPr id="125" name="receiver step 3 sub"/>
          <p:cNvSpPr txBox="1"/>
          <p:nvPr/>
        </p:nvSpPr>
        <p:spPr>
          <a:xfrm>
            <a:off x="4828032" y="3758184"/>
            <a:ext cx="1554480" cy="384048"/>
          </a:xfrm>
          <a:prstGeom prst="rect">
            <a:avLst/>
          </a:prstGeom>
          <a:noFill/>
        </p:spPr>
        <p:txBody>
          <a:bodyPr wrap="square" lIns="0" rIns="0" tIns="0" bIns="0" anchor="t"/>
          <a:lstStyle/>
          <a:p>
            <a:pPr algn="l">
              <a:lnSpc>
                <a:spcPct val="105000"/>
              </a:lnSpc>
            </a:pPr>
            <a:r>
              <a:rPr sz="900" b="0" i="0">
                <a:solidFill>
                  <a:srgbClr val="C3C8D1"/>
                </a:solidFill>
                <a:latin typeface="Google Sans Flex"/>
                <a:ea typeface="Google Sans Flex"/>
                <a:cs typeface="Google Sans Flex"/>
                <a:sym typeface="Google Sans Flex"/>
              </a:rPr>
              <a:t>in code, against the creator’s rules, every action</a:t>
            </a:r>
          </a:p>
        </p:txBody>
      </p:sp>
      <p:cxnSp>
        <p:nvCxnSpPr>
          <p:cNvPr id="126" name="link travels"/>
          <p:cNvCxnSpPr/>
          <p:nvPr/>
        </p:nvCxnSpPr>
        <p:spPr>
          <a:xfrm flipH="1">
            <a:off x="1472184" y="2359152"/>
            <a:ext cx="6199632" cy="987552"/>
          </a:xfrm>
          <a:prstGeom prst="line">
            <a:avLst/>
          </a:prstGeom>
          <a:ln w="15875">
            <a:solidFill>
              <a:srgbClr val="5B627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7" name="outcome allow"/>
          <p:cNvSpPr/>
          <p:nvPr/>
        </p:nvSpPr>
        <p:spPr>
          <a:xfrm>
            <a:off x="6766560" y="3328416"/>
            <a:ext cx="1810512" cy="384048"/>
          </a:xfrm>
          <a:prstGeom prst="roundRect">
            <a:avLst>
              <a:gd name="adj" fmla="val 20000"/>
            </a:avLst>
          </a:prstGeom>
          <a:solidFill>
            <a:srgbClr val="2DD4A7"/>
          </a:solidFill>
          <a:ln>
            <a:noFill/>
          </a:ln>
        </p:spPr>
        <p:txBody>
          <a:bodyPr rtlCol="0" anchor="ctr"/>
          <a:lstStyle/>
          <a:p/>
        </p:txBody>
      </p:sp>
      <p:sp>
        <p:nvSpPr>
          <p:cNvPr id="128" name="outcome allow text"/>
          <p:cNvSpPr txBox="1"/>
          <p:nvPr/>
        </p:nvSpPr>
        <p:spPr>
          <a:xfrm>
            <a:off x="6876288" y="3328416"/>
            <a:ext cx="1591056" cy="384048"/>
          </a:xfrm>
          <a:prstGeom prst="rect">
            <a:avLst/>
          </a:prstGeom>
          <a:noFill/>
        </p:spPr>
        <p:txBody>
          <a:bodyPr wrap="square" lIns="0" rIns="0" tIns="0" bIns="0" anchor="ctr"/>
          <a:lstStyle/>
          <a:p>
            <a:pPr algn="l"/>
            <a:r>
              <a:rPr sz="900" b="0" i="0">
                <a:solidFill>
                  <a:srgbClr val="0D0F13"/>
                </a:solidFill>
                <a:latin typeface="Roboto Mono"/>
                <a:ea typeface="Roboto Mono"/>
                <a:cs typeface="Roboto Mono"/>
                <a:sym typeface="Roboto Mono"/>
              </a:rPr>
              <a:t>ALLOW </a:t>
            </a:r>
            <a:r>
              <a:rPr sz="950" b="0" i="0">
                <a:solidFill>
                  <a:srgbClr val="0D0F13"/>
                </a:solidFill>
                <a:latin typeface="Google Sans Flex SemiBold"/>
                <a:ea typeface="Google Sans Flex SemiBold"/>
                <a:cs typeface="Google Sans Flex SemiBold"/>
                <a:sym typeface="Google Sans Flex SemiBold"/>
              </a:rPr>
              <a:t>token → extension acts</a:t>
            </a:r>
          </a:p>
        </p:txBody>
      </p:sp>
      <p:sp>
        <p:nvSpPr>
          <p:cNvPr id="129" name="outcome deny"/>
          <p:cNvSpPr/>
          <p:nvPr/>
        </p:nvSpPr>
        <p:spPr>
          <a:xfrm>
            <a:off x="6766560" y="3822192"/>
            <a:ext cx="1810512" cy="384048"/>
          </a:xfrm>
          <a:prstGeom prst="roundRect">
            <a:avLst>
              <a:gd name="adj" fmla="val 20000"/>
            </a:avLst>
          </a:prstGeom>
          <a:solidFill>
            <a:srgbClr val="FF5C6C"/>
          </a:solidFill>
          <a:ln>
            <a:noFill/>
          </a:ln>
        </p:spPr>
        <p:txBody>
          <a:bodyPr rtlCol="0" anchor="ctr"/>
          <a:lstStyle/>
          <a:p/>
        </p:txBody>
      </p:sp>
      <p:sp>
        <p:nvSpPr>
          <p:cNvPr id="130" name="outcome deny text"/>
          <p:cNvSpPr txBox="1"/>
          <p:nvPr/>
        </p:nvSpPr>
        <p:spPr>
          <a:xfrm>
            <a:off x="6876288" y="3822192"/>
            <a:ext cx="1591056" cy="384048"/>
          </a:xfrm>
          <a:prstGeom prst="rect">
            <a:avLst/>
          </a:prstGeom>
          <a:noFill/>
        </p:spPr>
        <p:txBody>
          <a:bodyPr wrap="square" lIns="0" rIns="0" tIns="0" bIns="0" anchor="ctr"/>
          <a:lstStyle/>
          <a:p>
            <a:pPr algn="l"/>
            <a:r>
              <a:rPr sz="900" b="0" i="0">
                <a:solidFill>
                  <a:srgbClr val="0D0F13"/>
                </a:solidFill>
                <a:latin typeface="Roboto Mono"/>
                <a:ea typeface="Roboto Mono"/>
                <a:cs typeface="Roboto Mono"/>
                <a:sym typeface="Roboto Mono"/>
              </a:rPr>
              <a:t>DENY </a:t>
            </a:r>
            <a:r>
              <a:rPr sz="950" b="0" i="0">
                <a:solidFill>
                  <a:srgbClr val="0D0F13"/>
                </a:solidFill>
                <a:latin typeface="Google Sans Flex SemiBold"/>
                <a:ea typeface="Google Sans Flex SemiBold"/>
                <a:cs typeface="Google Sans Flex SemiBold"/>
                <a:sym typeface="Google Sans Flex SemiBold"/>
              </a:rPr>
              <a:t>blocked, rule quoted</a:t>
            </a:r>
          </a:p>
        </p:txBody>
      </p:sp>
      <p:cxnSp>
        <p:nvCxnSpPr>
          <p:cNvPr id="131" name="to allow"/>
          <p:cNvCxnSpPr/>
          <p:nvPr/>
        </p:nvCxnSpPr>
        <p:spPr>
          <a:xfrm flipV="1">
            <a:off x="6510528" y="3520440"/>
            <a:ext cx="256032" cy="100584"/>
          </a:xfrm>
          <a:prstGeom prst="line">
            <a:avLst/>
          </a:prstGeom>
          <a:ln w="15875">
            <a:solidFill>
              <a:srgbClr val="0B8F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2" name="to deny"/>
          <p:cNvCxnSpPr/>
          <p:nvPr/>
        </p:nvCxnSpPr>
        <p:spPr>
          <a:xfrm>
            <a:off x="6510528" y="3913632"/>
            <a:ext cx="256032" cy="100584"/>
          </a:xfrm>
          <a:prstGeom prst="line">
            <a:avLst/>
          </a:prstGeom>
          <a:ln w="15875">
            <a:solidFill>
              <a:srgbClr val="D63347"/>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03504"/>
            <a:ext cx="8943000"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b="0" i="0">
                <a:solidFill>
                  <a:srgbClr val="1E2228"/>
                </a:solidFill>
                <a:latin typeface="Google Sans Flex SemiBold"/>
                <a:ea typeface="Google Sans Flex SemiBold"/>
                <a:cs typeface="Google Sans Flex SemiBold"/>
                <a:sym typeface="Google Sans Flex SemiBold"/>
              </a:rPr>
              <a:t>Architecture</a:t>
            </a:r>
            <a:endParaRPr sz="1600">
              <a:latin typeface="Google Sans Flex Medium"/>
              <a:ea typeface="Google Sans Flex Medium"/>
              <a:cs typeface="Google Sans Flex Medium"/>
              <a:sym typeface="Google Sans Flex Medium"/>
            </a:endParaRPr>
          </a:p>
        </p:txBody>
      </p:sp>
      <p:sp>
        <p:nvSpPr>
          <p:cNvPr id="112" name="arch Chrome extension"/>
          <p:cNvSpPr/>
          <p:nvPr/>
        </p:nvSpPr>
        <p:spPr>
          <a:xfrm>
            <a:off x="384048" y="1078992"/>
            <a:ext cx="2395728" cy="1874519"/>
          </a:xfrm>
          <a:prstGeom prst="roundRect">
            <a:avLst>
              <a:gd name="adj" fmla="val 6000"/>
            </a:avLst>
          </a:prstGeom>
          <a:solidFill>
            <a:srgbClr val="0D0F13"/>
          </a:solidFill>
          <a:ln>
            <a:noFill/>
          </a:ln>
        </p:spPr>
        <p:txBody>
          <a:bodyPr rtlCol="0" anchor="ctr"/>
          <a:lstStyle/>
          <a:p/>
        </p:txBody>
      </p:sp>
      <p:sp>
        <p:nvSpPr>
          <p:cNvPr id="113" name="arch Chrome extension key"/>
          <p:cNvSpPr txBox="1"/>
          <p:nvPr/>
        </p:nvSpPr>
        <p:spPr>
          <a:xfrm>
            <a:off x="566928" y="1243584"/>
            <a:ext cx="2029968" cy="201168"/>
          </a:xfrm>
          <a:prstGeom prst="rect">
            <a:avLst/>
          </a:prstGeom>
          <a:noFill/>
        </p:spPr>
        <p:txBody>
          <a:bodyPr wrap="square" lIns="0" rIns="0" tIns="0" bIns="0" anchor="t"/>
          <a:lstStyle/>
          <a:p>
            <a:pPr algn="l"/>
            <a:r>
              <a:rPr sz="800" b="0" i="0">
                <a:solidFill>
                  <a:srgbClr val="C3C8D1"/>
                </a:solidFill>
                <a:latin typeface="Roboto Mono"/>
                <a:ea typeface="Roboto Mono"/>
                <a:cs typeface="Roboto Mono"/>
                <a:sym typeface="Roboto Mono"/>
              </a:rPr>
              <a:t>RECEIVER’S BROWSER</a:t>
            </a:r>
          </a:p>
        </p:txBody>
      </p:sp>
      <p:sp>
        <p:nvSpPr>
          <p:cNvPr id="114" name="arch Chrome extension title"/>
          <p:cNvSpPr txBox="1"/>
          <p:nvPr/>
        </p:nvSpPr>
        <p:spPr>
          <a:xfrm>
            <a:off x="566928" y="1463040"/>
            <a:ext cx="2029968" cy="310896"/>
          </a:xfrm>
          <a:prstGeom prst="rect">
            <a:avLst/>
          </a:prstGeom>
          <a:noFill/>
        </p:spPr>
        <p:txBody>
          <a:bodyPr wrap="square" lIns="0" rIns="0" tIns="0" bIns="0" anchor="t"/>
          <a:lstStyle/>
          <a:p>
            <a:pPr algn="l"/>
            <a:r>
              <a:rPr sz="1400" b="0" i="0">
                <a:solidFill>
                  <a:srgbClr val="FFFFFF"/>
                </a:solidFill>
                <a:latin typeface="Google Sans Flex SemiBold"/>
                <a:ea typeface="Google Sans Flex SemiBold"/>
                <a:cs typeface="Google Sans Flex SemiBold"/>
                <a:sym typeface="Google Sans Flex SemiBold"/>
              </a:rPr>
              <a:t>Chrome extension</a:t>
            </a:r>
          </a:p>
        </p:txBody>
      </p:sp>
      <p:sp>
        <p:nvSpPr>
          <p:cNvPr id="115" name="arch Chrome extension lines"/>
          <p:cNvSpPr txBox="1"/>
          <p:nvPr/>
        </p:nvSpPr>
        <p:spPr>
          <a:xfrm>
            <a:off x="566928" y="1865376"/>
            <a:ext cx="2029968" cy="1051560"/>
          </a:xfrm>
          <a:prstGeom prst="rect">
            <a:avLst/>
          </a:prstGeom>
          <a:noFill/>
        </p:spPr>
        <p:txBody>
          <a:bodyPr wrap="square" lIns="0" rIns="0" tIns="0" bIns="0" anchor="t"/>
          <a:lstStyle/>
          <a:p>
            <a:pPr algn="l">
              <a:spcAft>
                <a:spcPts val="500"/>
              </a:spcAft>
            </a:pPr>
            <a:r>
              <a:rPr sz="1000" b="0" i="0">
                <a:solidFill>
                  <a:srgbClr val="E8EAEE"/>
                </a:solidFill>
                <a:latin typeface="Google Sans Flex"/>
                <a:ea typeface="Google Sans Flex"/>
                <a:cs typeface="Google Sans Flex"/>
                <a:sym typeface="Google Sans Flex"/>
              </a:rPr>
              <a:t>•  Recorder: role + label, no coordinates</a:t>
            </a:r>
          </a:p>
          <a:p>
            <a:pPr algn="l">
              <a:spcAft>
                <a:spcPts val="500"/>
              </a:spcAft>
            </a:pPr>
            <a:r>
              <a:rPr sz="1000" b="0" i="0">
                <a:solidFill>
                  <a:srgbClr val="E8EAEE"/>
                </a:solidFill>
                <a:latin typeface="Google Sans Flex"/>
                <a:ea typeface="Google Sans Flex"/>
                <a:cs typeface="Google Sans Flex"/>
                <a:sym typeface="Google Sans Flex"/>
              </a:rPr>
              <a:t>•  Executor: acts only with a token</a:t>
            </a:r>
          </a:p>
          <a:p>
            <a:pPr algn="l">
              <a:spcAft>
                <a:spcPts val="500"/>
              </a:spcAft>
            </a:pPr>
            <a:r>
              <a:rPr sz="1000" b="0" i="0">
                <a:solidFill>
                  <a:srgbClr val="E8EAEE"/>
                </a:solidFill>
                <a:latin typeface="Google Sans Flex"/>
                <a:ea typeface="Google Sans Flex"/>
                <a:cs typeface="Google Sans Flex"/>
                <a:sym typeface="Google Sans Flex"/>
              </a:rPr>
              <a:t>•  Side panel: live run, verdicts</a:t>
            </a:r>
          </a:p>
        </p:txBody>
      </p:sp>
      <p:sp>
        <p:nvSpPr>
          <p:cNvPr id="116" name="arch Policy service"/>
          <p:cNvSpPr/>
          <p:nvPr/>
        </p:nvSpPr>
        <p:spPr>
          <a:xfrm>
            <a:off x="3374136" y="1078992"/>
            <a:ext cx="2395728" cy="1874519"/>
          </a:xfrm>
          <a:prstGeom prst="roundRect">
            <a:avLst>
              <a:gd name="adj" fmla="val 6000"/>
            </a:avLst>
          </a:prstGeom>
          <a:solidFill>
            <a:srgbClr val="0D0F13"/>
          </a:solidFill>
          <a:ln>
            <a:noFill/>
          </a:ln>
        </p:spPr>
        <p:txBody>
          <a:bodyPr rtlCol="0" anchor="ctr"/>
          <a:lstStyle/>
          <a:p/>
        </p:txBody>
      </p:sp>
      <p:sp>
        <p:nvSpPr>
          <p:cNvPr id="117" name="arch Policy service key"/>
          <p:cNvSpPr txBox="1"/>
          <p:nvPr/>
        </p:nvSpPr>
        <p:spPr>
          <a:xfrm>
            <a:off x="3557016" y="1243584"/>
            <a:ext cx="2029968" cy="201168"/>
          </a:xfrm>
          <a:prstGeom prst="rect">
            <a:avLst/>
          </a:prstGeom>
          <a:noFill/>
        </p:spPr>
        <p:txBody>
          <a:bodyPr wrap="square" lIns="0" rIns="0" tIns="0" bIns="0" anchor="t"/>
          <a:lstStyle/>
          <a:p>
            <a:pPr algn="l"/>
            <a:r>
              <a:rPr sz="800" b="0" i="0">
                <a:solidFill>
                  <a:srgbClr val="C3C8D1"/>
                </a:solidFill>
                <a:latin typeface="Roboto Mono"/>
                <a:ea typeface="Roboto Mono"/>
                <a:cs typeface="Roboto Mono"/>
                <a:sym typeface="Roboto Mono"/>
              </a:rPr>
              <a:t>CLOUD RUN · NODE / TS</a:t>
            </a:r>
          </a:p>
        </p:txBody>
      </p:sp>
      <p:sp>
        <p:nvSpPr>
          <p:cNvPr id="118" name="arch Policy service title"/>
          <p:cNvSpPr txBox="1"/>
          <p:nvPr/>
        </p:nvSpPr>
        <p:spPr>
          <a:xfrm>
            <a:off x="3557016" y="1463040"/>
            <a:ext cx="2029968" cy="310896"/>
          </a:xfrm>
          <a:prstGeom prst="rect">
            <a:avLst/>
          </a:prstGeom>
          <a:noFill/>
        </p:spPr>
        <p:txBody>
          <a:bodyPr wrap="square" lIns="0" rIns="0" tIns="0" bIns="0" anchor="t"/>
          <a:lstStyle/>
          <a:p>
            <a:pPr algn="l"/>
            <a:r>
              <a:rPr sz="1400" b="0" i="0">
                <a:solidFill>
                  <a:srgbClr val="FFFFFF"/>
                </a:solidFill>
                <a:latin typeface="Google Sans Flex SemiBold"/>
                <a:ea typeface="Google Sans Flex SemiBold"/>
                <a:cs typeface="Google Sans Flex SemiBold"/>
                <a:sym typeface="Google Sans Flex SemiBold"/>
              </a:rPr>
              <a:t>Policy service</a:t>
            </a:r>
          </a:p>
        </p:txBody>
      </p:sp>
      <p:sp>
        <p:nvSpPr>
          <p:cNvPr id="119" name="arch Policy service lines"/>
          <p:cNvSpPr txBox="1"/>
          <p:nvPr/>
        </p:nvSpPr>
        <p:spPr>
          <a:xfrm>
            <a:off x="3557016" y="1865376"/>
            <a:ext cx="2029968" cy="1051560"/>
          </a:xfrm>
          <a:prstGeom prst="rect">
            <a:avLst/>
          </a:prstGeom>
          <a:noFill/>
        </p:spPr>
        <p:txBody>
          <a:bodyPr wrap="square" lIns="0" rIns="0" tIns="0" bIns="0" anchor="t"/>
          <a:lstStyle/>
          <a:p>
            <a:pPr algn="l">
              <a:spcAft>
                <a:spcPts val="500"/>
              </a:spcAft>
            </a:pPr>
            <a:r>
              <a:rPr sz="1000" b="0" i="0">
                <a:solidFill>
                  <a:srgbClr val="E8EAEE"/>
                </a:solidFill>
                <a:latin typeface="Google Sans Flex"/>
                <a:ea typeface="Google Sans Flex"/>
                <a:cs typeface="Google Sans Flex"/>
                <a:sym typeface="Google Sans Flex"/>
              </a:rPr>
              <a:t>•  Publish: Gemini compiles intent + rules</a:t>
            </a:r>
          </a:p>
          <a:p>
            <a:pPr algn="l">
              <a:spcAft>
                <a:spcPts val="500"/>
              </a:spcAft>
            </a:pPr>
            <a:r>
              <a:rPr sz="1000" b="0" i="0">
                <a:solidFill>
                  <a:srgbClr val="E8EAEE"/>
                </a:solidFill>
                <a:latin typeface="Google Sans Flex"/>
                <a:ea typeface="Google Sans Flex"/>
                <a:cs typeface="Google Sans Flex"/>
                <a:sym typeface="Google Sans Flex"/>
              </a:rPr>
              <a:t>•  Decide &amp; redeem single-use tokens</a:t>
            </a:r>
          </a:p>
          <a:p>
            <a:pPr algn="l">
              <a:spcAft>
                <a:spcPts val="500"/>
              </a:spcAft>
            </a:pPr>
            <a:r>
              <a:rPr sz="1000" b="0" i="0">
                <a:solidFill>
                  <a:srgbClr val="E8EAEE"/>
                </a:solidFill>
                <a:latin typeface="Google Sans Flex"/>
                <a:ea typeface="Google Sans Flex"/>
                <a:cs typeface="Google Sans Flex"/>
                <a:sym typeface="Google Sans Flex"/>
              </a:rPr>
              <a:t>•  Consent, landing, hash-chained audit</a:t>
            </a:r>
          </a:p>
        </p:txBody>
      </p:sp>
      <p:sp>
        <p:nvSpPr>
          <p:cNvPr id="120" name="arch Agent (Google ADK)"/>
          <p:cNvSpPr/>
          <p:nvPr/>
        </p:nvSpPr>
        <p:spPr>
          <a:xfrm>
            <a:off x="6364224" y="1078992"/>
            <a:ext cx="2395728" cy="1874519"/>
          </a:xfrm>
          <a:prstGeom prst="roundRect">
            <a:avLst>
              <a:gd name="adj" fmla="val 6000"/>
            </a:avLst>
          </a:prstGeom>
          <a:solidFill>
            <a:srgbClr val="0D0F13"/>
          </a:solidFill>
          <a:ln>
            <a:noFill/>
          </a:ln>
        </p:spPr>
        <p:txBody>
          <a:bodyPr rtlCol="0" anchor="ctr"/>
          <a:lstStyle/>
          <a:p/>
        </p:txBody>
      </p:sp>
      <p:sp>
        <p:nvSpPr>
          <p:cNvPr id="121" name="arch Agent (Google ADK) key"/>
          <p:cNvSpPr txBox="1"/>
          <p:nvPr/>
        </p:nvSpPr>
        <p:spPr>
          <a:xfrm>
            <a:off x="6547104" y="1243584"/>
            <a:ext cx="2029968" cy="201168"/>
          </a:xfrm>
          <a:prstGeom prst="rect">
            <a:avLst/>
          </a:prstGeom>
          <a:noFill/>
        </p:spPr>
        <p:txBody>
          <a:bodyPr wrap="square" lIns="0" rIns="0" tIns="0" bIns="0" anchor="t"/>
          <a:lstStyle/>
          <a:p>
            <a:pPr algn="l"/>
            <a:r>
              <a:rPr sz="800" b="0" i="0">
                <a:solidFill>
                  <a:srgbClr val="C3C8D1"/>
                </a:solidFill>
                <a:latin typeface="Roboto Mono"/>
                <a:ea typeface="Roboto Mono"/>
                <a:cs typeface="Roboto Mono"/>
                <a:sym typeface="Roboto Mono"/>
              </a:rPr>
              <a:t>CLOUD RUN · PYTHON</a:t>
            </a:r>
          </a:p>
        </p:txBody>
      </p:sp>
      <p:sp>
        <p:nvSpPr>
          <p:cNvPr id="122" name="arch Agent (Google ADK) title"/>
          <p:cNvSpPr txBox="1"/>
          <p:nvPr/>
        </p:nvSpPr>
        <p:spPr>
          <a:xfrm>
            <a:off x="6547104" y="1463040"/>
            <a:ext cx="2029968" cy="310896"/>
          </a:xfrm>
          <a:prstGeom prst="rect">
            <a:avLst/>
          </a:prstGeom>
          <a:noFill/>
        </p:spPr>
        <p:txBody>
          <a:bodyPr wrap="square" lIns="0" rIns="0" tIns="0" bIns="0" anchor="t"/>
          <a:lstStyle/>
          <a:p>
            <a:pPr algn="l"/>
            <a:r>
              <a:rPr sz="1400" b="0" i="0">
                <a:solidFill>
                  <a:srgbClr val="FFFFFF"/>
                </a:solidFill>
                <a:latin typeface="Google Sans Flex SemiBold"/>
                <a:ea typeface="Google Sans Flex SemiBold"/>
                <a:cs typeface="Google Sans Flex SemiBold"/>
                <a:sym typeface="Google Sans Flex SemiBold"/>
              </a:rPr>
              <a:t>Agent (Google ADK)</a:t>
            </a:r>
          </a:p>
        </p:txBody>
      </p:sp>
      <p:sp>
        <p:nvSpPr>
          <p:cNvPr id="123" name="arch Agent (Google ADK) lines"/>
          <p:cNvSpPr txBox="1"/>
          <p:nvPr/>
        </p:nvSpPr>
        <p:spPr>
          <a:xfrm>
            <a:off x="6547104" y="1865376"/>
            <a:ext cx="2029968" cy="1051560"/>
          </a:xfrm>
          <a:prstGeom prst="rect">
            <a:avLst/>
          </a:prstGeom>
          <a:noFill/>
        </p:spPr>
        <p:txBody>
          <a:bodyPr wrap="square" lIns="0" rIns="0" tIns="0" bIns="0" anchor="t"/>
          <a:lstStyle/>
          <a:p>
            <a:pPr algn="l">
              <a:spcAft>
                <a:spcPts val="500"/>
              </a:spcAft>
            </a:pPr>
            <a:r>
              <a:rPr sz="1000" b="0" i="0">
                <a:solidFill>
                  <a:srgbClr val="E8EAEE"/>
                </a:solidFill>
                <a:latin typeface="Google Sans Flex"/>
                <a:ea typeface="Google Sans Flex"/>
                <a:cs typeface="Google Sans Flex"/>
                <a:sym typeface="Google Sans Flex"/>
              </a:rPr>
              <a:t>•  Gemini Flash-Lite picks each action</a:t>
            </a:r>
          </a:p>
          <a:p>
            <a:pPr algn="l">
              <a:spcAft>
                <a:spcPts val="500"/>
              </a:spcAft>
            </a:pPr>
            <a:r>
              <a:rPr sz="1000" b="0" i="0">
                <a:solidFill>
                  <a:srgbClr val="E8EAEE"/>
                </a:solidFill>
                <a:latin typeface="Google Sans Flex"/>
                <a:ea typeface="Google Sans Flex"/>
                <a:cs typeface="Google Sans Flex"/>
                <a:sym typeface="Google Sans Flex"/>
              </a:rPr>
              <a:t>•  before_tool gate asks the policy service</a:t>
            </a:r>
          </a:p>
          <a:p>
            <a:pPr algn="l">
              <a:spcAft>
                <a:spcPts val="500"/>
              </a:spcAft>
            </a:pPr>
            <a:r>
              <a:rPr sz="1000" b="0" i="0">
                <a:solidFill>
                  <a:srgbClr val="E8EAEE"/>
                </a:solidFill>
                <a:latin typeface="Google Sans Flex"/>
                <a:ea typeface="Google Sans Flex"/>
                <a:cs typeface="Google Sans Flex"/>
                <a:sym typeface="Google Sans Flex"/>
              </a:rPr>
              <a:t>•  Holds no authority of its own</a:t>
            </a:r>
          </a:p>
        </p:txBody>
      </p:sp>
      <p:cxnSp>
        <p:nvCxnSpPr>
          <p:cNvPr id="124" name="ext to policy"/>
          <p:cNvCxnSpPr/>
          <p:nvPr/>
        </p:nvCxnSpPr>
        <p:spPr>
          <a:xfrm>
            <a:off x="2779776" y="1851659"/>
            <a:ext cx="594360" cy="0"/>
          </a:xfrm>
          <a:prstGeom prst="line">
            <a:avLst/>
          </a:prstGeom>
          <a:ln w="15875">
            <a:solidFill>
              <a:srgbClr val="0B8F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5" name="label ext policy"/>
          <p:cNvSpPr txBox="1"/>
          <p:nvPr/>
        </p:nvSpPr>
        <p:spPr>
          <a:xfrm>
            <a:off x="2798064" y="1449323"/>
            <a:ext cx="557784" cy="365760"/>
          </a:xfrm>
          <a:prstGeom prst="rect">
            <a:avLst/>
          </a:prstGeom>
          <a:noFill/>
        </p:spPr>
        <p:txBody>
          <a:bodyPr wrap="square" lIns="0" rIns="0" tIns="0" bIns="0" anchor="t"/>
          <a:lstStyle/>
          <a:p>
            <a:pPr algn="ctr"/>
            <a:r>
              <a:rPr sz="750" b="0" i="0">
                <a:solidFill>
                  <a:srgbClr val="5B6270"/>
                </a:solidFill>
                <a:latin typeface="Roboto Mono"/>
                <a:ea typeface="Roboto Mono"/>
                <a:cs typeface="Roboto Mono"/>
                <a:sym typeface="Roboto Mono"/>
              </a:rPr>
              <a:t>publish</a:t>
            </a:r>
          </a:p>
          <a:p>
            <a:pPr algn="ctr"/>
            <a:r>
              <a:rPr sz="750" b="0" i="0">
                <a:solidFill>
                  <a:srgbClr val="5B6270"/>
                </a:solidFill>
                <a:latin typeface="Roboto Mono"/>
                <a:ea typeface="Roboto Mono"/>
                <a:cs typeface="Roboto Mono"/>
                <a:sym typeface="Roboto Mono"/>
              </a:rPr>
              <a:t>redeem</a:t>
            </a:r>
          </a:p>
        </p:txBody>
      </p:sp>
      <p:cxnSp>
        <p:nvCxnSpPr>
          <p:cNvPr id="126" name="agent to policy"/>
          <p:cNvCxnSpPr/>
          <p:nvPr/>
        </p:nvCxnSpPr>
        <p:spPr>
          <a:xfrm flipH="1">
            <a:off x="5769864" y="2180843"/>
            <a:ext cx="594360" cy="0"/>
          </a:xfrm>
          <a:prstGeom prst="line">
            <a:avLst/>
          </a:prstGeom>
          <a:ln w="15875">
            <a:solidFill>
              <a:srgbClr val="0B8F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7" name="label agent policy"/>
          <p:cNvSpPr txBox="1"/>
          <p:nvPr/>
        </p:nvSpPr>
        <p:spPr>
          <a:xfrm>
            <a:off x="5788152" y="2235707"/>
            <a:ext cx="557784" cy="256032"/>
          </a:xfrm>
          <a:prstGeom prst="rect">
            <a:avLst/>
          </a:prstGeom>
          <a:noFill/>
        </p:spPr>
        <p:txBody>
          <a:bodyPr wrap="square" lIns="0" rIns="0" tIns="0" bIns="0" anchor="t"/>
          <a:lstStyle/>
          <a:p>
            <a:pPr algn="ctr"/>
            <a:r>
              <a:rPr sz="750" b="0" i="0">
                <a:solidFill>
                  <a:srgbClr val="5B6270"/>
                </a:solidFill>
                <a:latin typeface="Roboto Mono"/>
                <a:ea typeface="Roboto Mono"/>
                <a:cs typeface="Roboto Mono"/>
                <a:sym typeface="Roboto Mono"/>
              </a:rPr>
              <a:t>decide</a:t>
            </a:r>
          </a:p>
        </p:txBody>
      </p:sp>
      <p:cxnSp>
        <p:nvCxnSpPr>
          <p:cNvPr id="128" name="ext down"/>
          <p:cNvCxnSpPr/>
          <p:nvPr/>
        </p:nvCxnSpPr>
        <p:spPr>
          <a:xfrm>
            <a:off x="1581912" y="2953511"/>
            <a:ext cx="0" cy="292608"/>
          </a:xfrm>
          <a:prstGeom prst="line">
            <a:avLst/>
          </a:prstGeom>
          <a:ln w="15875">
            <a:solidFill>
              <a:srgbClr val="5B6270"/>
            </a:solidFill>
          </a:ln>
        </p:spPr>
        <p:style>
          <a:lnRef idx="2">
            <a:schemeClr val="accent1"/>
          </a:lnRef>
          <a:fillRef idx="0">
            <a:schemeClr val="accent1"/>
          </a:fillRef>
          <a:effectRef idx="1">
            <a:schemeClr val="accent1"/>
          </a:effectRef>
          <a:fontRef idx="minor">
            <a:schemeClr val="tx1"/>
          </a:fontRef>
        </p:style>
      </p:cxnSp>
      <p:cxnSp>
        <p:nvCxnSpPr>
          <p:cNvPr id="129" name="ext to agent"/>
          <p:cNvCxnSpPr/>
          <p:nvPr/>
        </p:nvCxnSpPr>
        <p:spPr>
          <a:xfrm>
            <a:off x="1581912" y="3246119"/>
            <a:ext cx="5980176" cy="0"/>
          </a:xfrm>
          <a:prstGeom prst="line">
            <a:avLst/>
          </a:prstGeom>
          <a:ln w="15875">
            <a:solidFill>
              <a:srgbClr val="5B6270"/>
            </a:solidFill>
          </a:ln>
        </p:spPr>
        <p:style>
          <a:lnRef idx="2">
            <a:schemeClr val="accent1"/>
          </a:lnRef>
          <a:fillRef idx="0">
            <a:schemeClr val="accent1"/>
          </a:fillRef>
          <a:effectRef idx="1">
            <a:schemeClr val="accent1"/>
          </a:effectRef>
          <a:fontRef idx="minor">
            <a:schemeClr val="tx1"/>
          </a:fontRef>
        </p:style>
      </p:cxnSp>
      <p:cxnSp>
        <p:nvCxnSpPr>
          <p:cNvPr id="130" name="agent up"/>
          <p:cNvCxnSpPr/>
          <p:nvPr/>
        </p:nvCxnSpPr>
        <p:spPr>
          <a:xfrm flipV="1">
            <a:off x="7562088" y="2953511"/>
            <a:ext cx="0" cy="292608"/>
          </a:xfrm>
          <a:prstGeom prst="line">
            <a:avLst/>
          </a:prstGeom>
          <a:ln w="15875">
            <a:solidFill>
              <a:srgbClr val="5B62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1" name="label ext agent"/>
          <p:cNvSpPr txBox="1"/>
          <p:nvPr/>
        </p:nvSpPr>
        <p:spPr>
          <a:xfrm>
            <a:off x="3374136" y="3081527"/>
            <a:ext cx="2395728" cy="182880"/>
          </a:xfrm>
          <a:prstGeom prst="rect">
            <a:avLst/>
          </a:prstGeom>
          <a:noFill/>
        </p:spPr>
        <p:txBody>
          <a:bodyPr wrap="square" lIns="0" rIns="0" tIns="0" bIns="0" anchor="t"/>
          <a:lstStyle/>
          <a:p>
            <a:pPr algn="ctr"/>
            <a:r>
              <a:rPr sz="750" b="0" i="0">
                <a:solidFill>
                  <a:srgbClr val="5B6270"/>
                </a:solidFill>
                <a:latin typeface="Roboto Mono"/>
                <a:ea typeface="Roboto Mono"/>
                <a:cs typeface="Roboto Mono"/>
                <a:sym typeface="Roboto Mono"/>
              </a:rPr>
              <a:t>page observation → next action</a:t>
            </a:r>
          </a:p>
        </p:txBody>
      </p:sp>
      <p:sp>
        <p:nvSpPr>
          <p:cNvPr id="132" name="platform Gemini API"/>
          <p:cNvSpPr/>
          <p:nvPr/>
        </p:nvSpPr>
        <p:spPr>
          <a:xfrm>
            <a:off x="384048" y="3520439"/>
            <a:ext cx="1984248" cy="566928"/>
          </a:xfrm>
          <a:prstGeom prst="roundRect">
            <a:avLst>
              <a:gd name="adj" fmla="val 12000"/>
            </a:avLst>
          </a:prstGeom>
          <a:solidFill>
            <a:srgbClr val="F4F5F7"/>
          </a:solidFill>
          <a:ln>
            <a:noFill/>
          </a:ln>
        </p:spPr>
        <p:txBody>
          <a:bodyPr rtlCol="0" anchor="ctr"/>
          <a:lstStyle/>
          <a:p/>
        </p:txBody>
      </p:sp>
      <p:sp>
        <p:nvSpPr>
          <p:cNvPr id="133" name="platform Gemini API title"/>
          <p:cNvSpPr txBox="1"/>
          <p:nvPr/>
        </p:nvSpPr>
        <p:spPr>
          <a:xfrm>
            <a:off x="530352" y="3593591"/>
            <a:ext cx="1709928" cy="237744"/>
          </a:xfrm>
          <a:prstGeom prst="rect">
            <a:avLst/>
          </a:prstGeom>
          <a:noFill/>
        </p:spPr>
        <p:txBody>
          <a:bodyPr wrap="square" lIns="0" rIns="0" tIns="0" bIns="0" anchor="t"/>
          <a:lstStyle/>
          <a:p>
            <a:pPr algn="l"/>
            <a:r>
              <a:rPr sz="1100" b="0" i="0">
                <a:solidFill>
                  <a:srgbClr val="1E2228"/>
                </a:solidFill>
                <a:latin typeface="Google Sans Flex SemiBold"/>
                <a:ea typeface="Google Sans Flex SemiBold"/>
                <a:cs typeface="Google Sans Flex SemiBold"/>
                <a:sym typeface="Google Sans Flex SemiBold"/>
              </a:rPr>
              <a:t>Gemini API</a:t>
            </a:r>
          </a:p>
        </p:txBody>
      </p:sp>
      <p:sp>
        <p:nvSpPr>
          <p:cNvPr id="134" name="platform Gemini API sub"/>
          <p:cNvSpPr txBox="1"/>
          <p:nvPr/>
        </p:nvSpPr>
        <p:spPr>
          <a:xfrm>
            <a:off x="530352" y="3831335"/>
            <a:ext cx="1709928" cy="201168"/>
          </a:xfrm>
          <a:prstGeom prst="rect">
            <a:avLst/>
          </a:prstGeom>
          <a:noFill/>
        </p:spPr>
        <p:txBody>
          <a:bodyPr wrap="square" lIns="0" rIns="0" tIns="0" bIns="0" anchor="t"/>
          <a:lstStyle/>
          <a:p>
            <a:pPr algn="l"/>
            <a:r>
              <a:rPr sz="900" b="0" i="0">
                <a:solidFill>
                  <a:srgbClr val="5B6270"/>
                </a:solidFill>
                <a:latin typeface="Google Sans Flex"/>
                <a:ea typeface="Google Sans Flex"/>
                <a:cs typeface="Google Sans Flex"/>
                <a:sym typeface="Google Sans Flex"/>
              </a:rPr>
              <a:t>compile + runtime models</a:t>
            </a:r>
          </a:p>
        </p:txBody>
      </p:sp>
      <p:sp>
        <p:nvSpPr>
          <p:cNvPr id="135" name="platform Firestore"/>
          <p:cNvSpPr/>
          <p:nvPr/>
        </p:nvSpPr>
        <p:spPr>
          <a:xfrm>
            <a:off x="2514600" y="3520439"/>
            <a:ext cx="1984248" cy="566928"/>
          </a:xfrm>
          <a:prstGeom prst="roundRect">
            <a:avLst>
              <a:gd name="adj" fmla="val 12000"/>
            </a:avLst>
          </a:prstGeom>
          <a:solidFill>
            <a:srgbClr val="F4F5F7"/>
          </a:solidFill>
          <a:ln>
            <a:noFill/>
          </a:ln>
        </p:spPr>
        <p:txBody>
          <a:bodyPr rtlCol="0" anchor="ctr"/>
          <a:lstStyle/>
          <a:p/>
        </p:txBody>
      </p:sp>
      <p:sp>
        <p:nvSpPr>
          <p:cNvPr id="136" name="platform Firestore title"/>
          <p:cNvSpPr txBox="1"/>
          <p:nvPr/>
        </p:nvSpPr>
        <p:spPr>
          <a:xfrm>
            <a:off x="2660904" y="3593591"/>
            <a:ext cx="1709928" cy="237744"/>
          </a:xfrm>
          <a:prstGeom prst="rect">
            <a:avLst/>
          </a:prstGeom>
          <a:noFill/>
        </p:spPr>
        <p:txBody>
          <a:bodyPr wrap="square" lIns="0" rIns="0" tIns="0" bIns="0" anchor="t"/>
          <a:lstStyle/>
          <a:p>
            <a:pPr algn="l"/>
            <a:r>
              <a:rPr sz="1100" b="0" i="0">
                <a:solidFill>
                  <a:srgbClr val="1E2228"/>
                </a:solidFill>
                <a:latin typeface="Google Sans Flex SemiBold"/>
                <a:ea typeface="Google Sans Flex SemiBold"/>
                <a:cs typeface="Google Sans Flex SemiBold"/>
                <a:sym typeface="Google Sans Flex SemiBold"/>
              </a:rPr>
              <a:t>Firestore</a:t>
            </a:r>
          </a:p>
        </p:txBody>
      </p:sp>
      <p:sp>
        <p:nvSpPr>
          <p:cNvPr id="137" name="platform Firestore sub"/>
          <p:cNvSpPr txBox="1"/>
          <p:nvPr/>
        </p:nvSpPr>
        <p:spPr>
          <a:xfrm>
            <a:off x="2660904" y="3831335"/>
            <a:ext cx="1709928" cy="201168"/>
          </a:xfrm>
          <a:prstGeom prst="rect">
            <a:avLst/>
          </a:prstGeom>
          <a:noFill/>
        </p:spPr>
        <p:txBody>
          <a:bodyPr wrap="square" lIns="0" rIns="0" tIns="0" bIns="0" anchor="t"/>
          <a:lstStyle/>
          <a:p>
            <a:pPr algn="l"/>
            <a:r>
              <a:rPr sz="900" b="0" i="0">
                <a:solidFill>
                  <a:srgbClr val="5B6270"/>
                </a:solidFill>
                <a:latin typeface="Google Sans Flex"/>
                <a:ea typeface="Google Sans Flex"/>
                <a:cs typeface="Google Sans Flex"/>
                <a:sym typeface="Google Sans Flex"/>
              </a:rPr>
              <a:t>links, policies, audit log</a:t>
            </a:r>
          </a:p>
        </p:txBody>
      </p:sp>
      <p:sp>
        <p:nvSpPr>
          <p:cNvPr id="138" name="platform Secret Manager"/>
          <p:cNvSpPr/>
          <p:nvPr/>
        </p:nvSpPr>
        <p:spPr>
          <a:xfrm>
            <a:off x="4645152" y="3520439"/>
            <a:ext cx="1984248" cy="566928"/>
          </a:xfrm>
          <a:prstGeom prst="roundRect">
            <a:avLst>
              <a:gd name="adj" fmla="val 12000"/>
            </a:avLst>
          </a:prstGeom>
          <a:solidFill>
            <a:srgbClr val="F4F5F7"/>
          </a:solidFill>
          <a:ln>
            <a:noFill/>
          </a:ln>
        </p:spPr>
        <p:txBody>
          <a:bodyPr rtlCol="0" anchor="ctr"/>
          <a:lstStyle/>
          <a:p/>
        </p:txBody>
      </p:sp>
      <p:sp>
        <p:nvSpPr>
          <p:cNvPr id="139" name="platform Secret Manager title"/>
          <p:cNvSpPr txBox="1"/>
          <p:nvPr/>
        </p:nvSpPr>
        <p:spPr>
          <a:xfrm>
            <a:off x="4791456" y="3593591"/>
            <a:ext cx="1709928" cy="237744"/>
          </a:xfrm>
          <a:prstGeom prst="rect">
            <a:avLst/>
          </a:prstGeom>
          <a:noFill/>
        </p:spPr>
        <p:txBody>
          <a:bodyPr wrap="square" lIns="0" rIns="0" tIns="0" bIns="0" anchor="t"/>
          <a:lstStyle/>
          <a:p>
            <a:pPr algn="l"/>
            <a:r>
              <a:rPr sz="1100" b="0" i="0">
                <a:solidFill>
                  <a:srgbClr val="1E2228"/>
                </a:solidFill>
                <a:latin typeface="Google Sans Flex SemiBold"/>
                <a:ea typeface="Google Sans Flex SemiBold"/>
                <a:cs typeface="Google Sans Flex SemiBold"/>
                <a:sym typeface="Google Sans Flex SemiBold"/>
              </a:rPr>
              <a:t>Secret Manager</a:t>
            </a:r>
          </a:p>
        </p:txBody>
      </p:sp>
      <p:sp>
        <p:nvSpPr>
          <p:cNvPr id="140" name="platform Secret Manager sub"/>
          <p:cNvSpPr txBox="1"/>
          <p:nvPr/>
        </p:nvSpPr>
        <p:spPr>
          <a:xfrm>
            <a:off x="4791456" y="3831335"/>
            <a:ext cx="1709928" cy="201168"/>
          </a:xfrm>
          <a:prstGeom prst="rect">
            <a:avLst/>
          </a:prstGeom>
          <a:noFill/>
        </p:spPr>
        <p:txBody>
          <a:bodyPr wrap="square" lIns="0" rIns="0" tIns="0" bIns="0" anchor="t"/>
          <a:lstStyle/>
          <a:p>
            <a:pPr algn="l"/>
            <a:r>
              <a:rPr sz="900" b="0" i="0">
                <a:solidFill>
                  <a:srgbClr val="5B6270"/>
                </a:solidFill>
                <a:latin typeface="Google Sans Flex"/>
                <a:ea typeface="Google Sans Flex"/>
                <a:cs typeface="Google Sans Flex"/>
                <a:sym typeface="Google Sans Flex"/>
              </a:rPr>
              <a:t>signing secret, API key</a:t>
            </a:r>
          </a:p>
        </p:txBody>
      </p:sp>
      <p:sp>
        <p:nvSpPr>
          <p:cNvPr id="141" name="platform Cloud Build"/>
          <p:cNvSpPr/>
          <p:nvPr/>
        </p:nvSpPr>
        <p:spPr>
          <a:xfrm>
            <a:off x="6775704" y="3520439"/>
            <a:ext cx="1984248" cy="566928"/>
          </a:xfrm>
          <a:prstGeom prst="roundRect">
            <a:avLst>
              <a:gd name="adj" fmla="val 12000"/>
            </a:avLst>
          </a:prstGeom>
          <a:solidFill>
            <a:srgbClr val="F4F5F7"/>
          </a:solidFill>
          <a:ln>
            <a:noFill/>
          </a:ln>
        </p:spPr>
        <p:txBody>
          <a:bodyPr rtlCol="0" anchor="ctr"/>
          <a:lstStyle/>
          <a:p/>
        </p:txBody>
      </p:sp>
      <p:sp>
        <p:nvSpPr>
          <p:cNvPr id="142" name="platform Cloud Build title"/>
          <p:cNvSpPr txBox="1"/>
          <p:nvPr/>
        </p:nvSpPr>
        <p:spPr>
          <a:xfrm>
            <a:off x="6922008" y="3593591"/>
            <a:ext cx="1709928" cy="237744"/>
          </a:xfrm>
          <a:prstGeom prst="rect">
            <a:avLst/>
          </a:prstGeom>
          <a:noFill/>
        </p:spPr>
        <p:txBody>
          <a:bodyPr wrap="square" lIns="0" rIns="0" tIns="0" bIns="0" anchor="t"/>
          <a:lstStyle/>
          <a:p>
            <a:pPr algn="l"/>
            <a:r>
              <a:rPr sz="1100" b="0" i="0">
                <a:solidFill>
                  <a:srgbClr val="1E2228"/>
                </a:solidFill>
                <a:latin typeface="Google Sans Flex SemiBold"/>
                <a:ea typeface="Google Sans Flex SemiBold"/>
                <a:cs typeface="Google Sans Flex SemiBold"/>
                <a:sym typeface="Google Sans Flex SemiBold"/>
              </a:rPr>
              <a:t>Cloud Build</a:t>
            </a:r>
          </a:p>
        </p:txBody>
      </p:sp>
      <p:sp>
        <p:nvSpPr>
          <p:cNvPr id="143" name="platform Cloud Build sub"/>
          <p:cNvSpPr txBox="1"/>
          <p:nvPr/>
        </p:nvSpPr>
        <p:spPr>
          <a:xfrm>
            <a:off x="6922008" y="3831335"/>
            <a:ext cx="1709928" cy="201168"/>
          </a:xfrm>
          <a:prstGeom prst="rect">
            <a:avLst/>
          </a:prstGeom>
          <a:noFill/>
        </p:spPr>
        <p:txBody>
          <a:bodyPr wrap="square" lIns="0" rIns="0" tIns="0" bIns="0" anchor="t"/>
          <a:lstStyle/>
          <a:p>
            <a:pPr algn="l"/>
            <a:r>
              <a:rPr sz="900" b="0" i="0">
                <a:solidFill>
                  <a:srgbClr val="5B6270"/>
                </a:solidFill>
                <a:latin typeface="Google Sans Flex"/>
                <a:ea typeface="Google Sans Flex"/>
                <a:cs typeface="Google Sans Flex"/>
                <a:sym typeface="Google Sans Flex"/>
              </a:rPr>
              <a:t>images from source</a:t>
            </a:r>
          </a:p>
        </p:txBody>
      </p:sp>
      <p:sp>
        <p:nvSpPr>
          <p:cNvPr id="144" name="arch thesis"/>
          <p:cNvSpPr txBox="1"/>
          <p:nvPr/>
        </p:nvSpPr>
        <p:spPr>
          <a:xfrm>
            <a:off x="384048" y="4197095"/>
            <a:ext cx="8375904" cy="274320"/>
          </a:xfrm>
          <a:prstGeom prst="rect">
            <a:avLst/>
          </a:prstGeom>
          <a:noFill/>
        </p:spPr>
        <p:txBody>
          <a:bodyPr wrap="square" lIns="0" rIns="0" tIns="0" bIns="0" anchor="t"/>
          <a:lstStyle/>
          <a:p>
            <a:pPr algn="l"/>
            <a:r>
              <a:rPr sz="1050" b="0" i="1">
                <a:solidFill>
                  <a:srgbClr val="1E2228"/>
                </a:solidFill>
                <a:latin typeface="Google Sans Flex"/>
                <a:ea typeface="Google Sans Flex"/>
                <a:cs typeface="Google Sans Flex"/>
                <a:sym typeface="Google Sans Flex"/>
              </a:rPr>
              <a:t>The agent reasons but can’t authorize. The extension acts but can’t authorize. Authority lives in the policy service.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03504"/>
            <a:ext cx="8943000"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b="0" i="0">
                <a:solidFill>
                  <a:srgbClr val="1E2228"/>
                </a:solidFill>
                <a:latin typeface="Google Sans Flex SemiBold"/>
                <a:ea typeface="Google Sans Flex SemiBold"/>
                <a:cs typeface="Google Sans Flex SemiBold"/>
                <a:sym typeface="Google Sans Flex SemiBold"/>
              </a:rPr>
              <a:t>Technologies used</a:t>
            </a:r>
            <a:endParaRPr sz="1600">
              <a:latin typeface="Google Sans Flex Medium"/>
              <a:ea typeface="Google Sans Flex Medium"/>
              <a:cs typeface="Google Sans Flex Medium"/>
              <a:sym typeface="Google Sans Flex Medium"/>
            </a:endParaRPr>
          </a:p>
        </p:txBody>
      </p:sp>
      <p:sp>
        <p:nvSpPr>
          <p:cNvPr id="120" name="tech row Google AI"/>
          <p:cNvSpPr/>
          <p:nvPr/>
        </p:nvSpPr>
        <p:spPr>
          <a:xfrm>
            <a:off x="384048" y="1078992"/>
            <a:ext cx="8375904" cy="1094232"/>
          </a:xfrm>
          <a:prstGeom prst="roundRect">
            <a:avLst>
              <a:gd name="adj" fmla="val 8000"/>
            </a:avLst>
          </a:prstGeom>
          <a:solidFill>
            <a:srgbClr val="F4F5F7"/>
          </a:solidFill>
          <a:ln>
            <a:noFill/>
          </a:ln>
        </p:spPr>
        <p:txBody>
          <a:bodyPr rtlCol="0" anchor="ctr"/>
          <a:lstStyle/>
          <a:p/>
        </p:txBody>
      </p:sp>
      <p:sp>
        <p:nvSpPr>
          <p:cNvPr id="121" name="tech node Google AI"/>
          <p:cNvSpPr/>
          <p:nvPr/>
        </p:nvSpPr>
        <p:spPr>
          <a:xfrm>
            <a:off x="612648" y="1488948"/>
            <a:ext cx="274320" cy="274320"/>
          </a:xfrm>
          <a:prstGeom prst="ellipse">
            <a:avLst/>
          </a:prstGeom>
          <a:solidFill>
            <a:srgbClr val="0B8F6E"/>
          </a:solidFill>
          <a:ln>
            <a:noFill/>
          </a:ln>
        </p:spPr>
        <p:txBody>
          <a:bodyPr rtlCol="0" anchor="ctr"/>
          <a:lstStyle/>
          <a:p>
            <a:pPr algn="ctr"/>
          </a:p>
        </p:txBody>
      </p:sp>
      <p:sp>
        <p:nvSpPr>
          <p:cNvPr id="122" name="tech group Google AI"/>
          <p:cNvSpPr txBox="1"/>
          <p:nvPr/>
        </p:nvSpPr>
        <p:spPr>
          <a:xfrm>
            <a:off x="1042416" y="1078992"/>
            <a:ext cx="1463040" cy="1094232"/>
          </a:xfrm>
          <a:prstGeom prst="rect">
            <a:avLst/>
          </a:prstGeom>
          <a:noFill/>
        </p:spPr>
        <p:txBody>
          <a:bodyPr wrap="square" lIns="0" rIns="0" tIns="0" bIns="0" anchor="ctr"/>
          <a:lstStyle/>
          <a:p>
            <a:pPr algn="l"/>
            <a:r>
              <a:rPr sz="1400" b="0" i="0">
                <a:solidFill>
                  <a:srgbClr val="1E2228"/>
                </a:solidFill>
                <a:latin typeface="Google Sans Flex SemiBold"/>
                <a:ea typeface="Google Sans Flex SemiBold"/>
                <a:cs typeface="Google Sans Flex SemiBold"/>
                <a:sym typeface="Google Sans Flex SemiBold"/>
              </a:rPr>
              <a:t>Google AI</a:t>
            </a:r>
          </a:p>
        </p:txBody>
      </p:sp>
      <p:sp>
        <p:nvSpPr>
          <p:cNvPr id="123" name="tech Google AI 1"/>
          <p:cNvSpPr/>
          <p:nvPr/>
        </p:nvSpPr>
        <p:spPr>
          <a:xfrm>
            <a:off x="2624328" y="1234440"/>
            <a:ext cx="1911096" cy="783336"/>
          </a:xfrm>
          <a:prstGeom prst="roundRect">
            <a:avLst>
              <a:gd name="adj" fmla="val 14000"/>
            </a:avLst>
          </a:prstGeom>
          <a:solidFill>
            <a:srgbClr val="FFFFFF"/>
          </a:solidFill>
          <a:ln w="9525">
            <a:solidFill>
              <a:srgbClr val="DDE0E5"/>
            </a:solidFill>
          </a:ln>
        </p:spPr>
        <p:txBody>
          <a:bodyPr rtlCol="0" anchor="ctr"/>
          <a:lstStyle/>
          <a:p/>
        </p:txBody>
      </p:sp>
      <p:sp>
        <p:nvSpPr>
          <p:cNvPr id="124" name="tech Google AI 1 text"/>
          <p:cNvSpPr txBox="1"/>
          <p:nvPr/>
        </p:nvSpPr>
        <p:spPr>
          <a:xfrm>
            <a:off x="2752344" y="1234440"/>
            <a:ext cx="1655064" cy="783336"/>
          </a:xfrm>
          <a:prstGeom prst="rect">
            <a:avLst/>
          </a:prstGeom>
          <a:noFill/>
        </p:spPr>
        <p:txBody>
          <a:bodyPr wrap="square" lIns="0" rIns="0" tIns="0" bIns="0" anchor="ctr"/>
          <a:lstStyle/>
          <a:p>
            <a:pPr algn="l"/>
            <a:r>
              <a:rPr sz="1050" b="0" i="0">
                <a:solidFill>
                  <a:srgbClr val="1E2228"/>
                </a:solidFill>
                <a:latin typeface="Google Sans Flex SemiBold"/>
                <a:ea typeface="Google Sans Flex SemiBold"/>
                <a:cs typeface="Google Sans Flex SemiBold"/>
                <a:sym typeface="Google Sans Flex SemiBold"/>
              </a:rPr>
              <a:t>Gemini 3.8 Flash</a:t>
            </a:r>
          </a:p>
          <a:p>
            <a:pPr algn="l"/>
            <a:r>
              <a:rPr sz="900" b="0" i="0">
                <a:solidFill>
                  <a:srgbClr val="5B6270"/>
                </a:solidFill>
                <a:latin typeface="Google Sans Flex"/>
                <a:ea typeface="Google Sans Flex"/>
                <a:cs typeface="Google Sans Flex"/>
                <a:sym typeface="Google Sans Flex"/>
              </a:rPr>
              <a:t>compiles recordings and rules</a:t>
            </a:r>
          </a:p>
        </p:txBody>
      </p:sp>
      <p:sp>
        <p:nvSpPr>
          <p:cNvPr id="125" name="tech Google AI 2"/>
          <p:cNvSpPr/>
          <p:nvPr/>
        </p:nvSpPr>
        <p:spPr>
          <a:xfrm>
            <a:off x="4645152" y="1234440"/>
            <a:ext cx="1911096" cy="783336"/>
          </a:xfrm>
          <a:prstGeom prst="roundRect">
            <a:avLst>
              <a:gd name="adj" fmla="val 14000"/>
            </a:avLst>
          </a:prstGeom>
          <a:solidFill>
            <a:srgbClr val="FFFFFF"/>
          </a:solidFill>
          <a:ln w="9525">
            <a:solidFill>
              <a:srgbClr val="DDE0E5"/>
            </a:solidFill>
          </a:ln>
        </p:spPr>
        <p:txBody>
          <a:bodyPr rtlCol="0" anchor="ctr"/>
          <a:lstStyle/>
          <a:p/>
        </p:txBody>
      </p:sp>
      <p:sp>
        <p:nvSpPr>
          <p:cNvPr id="126" name="tech Google AI 2 text"/>
          <p:cNvSpPr txBox="1"/>
          <p:nvPr/>
        </p:nvSpPr>
        <p:spPr>
          <a:xfrm>
            <a:off x="4773168" y="1234440"/>
            <a:ext cx="1655064" cy="783336"/>
          </a:xfrm>
          <a:prstGeom prst="rect">
            <a:avLst/>
          </a:prstGeom>
          <a:noFill/>
        </p:spPr>
        <p:txBody>
          <a:bodyPr wrap="square" lIns="0" rIns="0" tIns="0" bIns="0" anchor="ctr"/>
          <a:lstStyle/>
          <a:p>
            <a:pPr algn="l"/>
            <a:r>
              <a:rPr sz="1050" b="0" i="0">
                <a:solidFill>
                  <a:srgbClr val="1E2228"/>
                </a:solidFill>
                <a:latin typeface="Google Sans Flex SemiBold"/>
                <a:ea typeface="Google Sans Flex SemiBold"/>
                <a:cs typeface="Google Sans Flex SemiBold"/>
                <a:sym typeface="Google Sans Flex SemiBold"/>
              </a:rPr>
              <a:t>Gemini 3.5 Flash-Lite</a:t>
            </a:r>
          </a:p>
          <a:p>
            <a:pPr algn="l"/>
            <a:r>
              <a:rPr sz="900" b="0" i="0">
                <a:solidFill>
                  <a:srgbClr val="5B6270"/>
                </a:solidFill>
                <a:latin typeface="Google Sans Flex"/>
                <a:ea typeface="Google Sans Flex"/>
                <a:cs typeface="Google Sans Flex"/>
                <a:sym typeface="Google Sans Flex"/>
              </a:rPr>
              <a:t>runtime agent</a:t>
            </a:r>
          </a:p>
        </p:txBody>
      </p:sp>
      <p:sp>
        <p:nvSpPr>
          <p:cNvPr id="127" name="tech Google AI 3"/>
          <p:cNvSpPr/>
          <p:nvPr/>
        </p:nvSpPr>
        <p:spPr>
          <a:xfrm>
            <a:off x="6665976" y="1234440"/>
            <a:ext cx="1911096" cy="783336"/>
          </a:xfrm>
          <a:prstGeom prst="roundRect">
            <a:avLst>
              <a:gd name="adj" fmla="val 14000"/>
            </a:avLst>
          </a:prstGeom>
          <a:solidFill>
            <a:srgbClr val="FFFFFF"/>
          </a:solidFill>
          <a:ln w="9525">
            <a:solidFill>
              <a:srgbClr val="DDE0E5"/>
            </a:solidFill>
          </a:ln>
        </p:spPr>
        <p:txBody>
          <a:bodyPr rtlCol="0" anchor="ctr"/>
          <a:lstStyle/>
          <a:p/>
        </p:txBody>
      </p:sp>
      <p:sp>
        <p:nvSpPr>
          <p:cNvPr id="128" name="tech Google AI 3 text"/>
          <p:cNvSpPr txBox="1"/>
          <p:nvPr/>
        </p:nvSpPr>
        <p:spPr>
          <a:xfrm>
            <a:off x="6793992" y="1234440"/>
            <a:ext cx="1655064" cy="783336"/>
          </a:xfrm>
          <a:prstGeom prst="rect">
            <a:avLst/>
          </a:prstGeom>
          <a:noFill/>
        </p:spPr>
        <p:txBody>
          <a:bodyPr wrap="square" lIns="0" rIns="0" tIns="0" bIns="0" anchor="ctr"/>
          <a:lstStyle/>
          <a:p>
            <a:pPr algn="l"/>
            <a:r>
              <a:rPr sz="1050" b="0" i="0">
                <a:solidFill>
                  <a:srgbClr val="1E2228"/>
                </a:solidFill>
                <a:latin typeface="Google Sans Flex SemiBold"/>
                <a:ea typeface="Google Sans Flex SemiBold"/>
                <a:cs typeface="Google Sans Flex SemiBold"/>
                <a:sym typeface="Google Sans Flex SemiBold"/>
              </a:rPr>
              <a:t>Google ADK 2.11</a:t>
            </a:r>
          </a:p>
          <a:p>
            <a:pPr algn="l"/>
            <a:r>
              <a:rPr sz="900" b="0" i="0">
                <a:solidFill>
                  <a:srgbClr val="5B6270"/>
                </a:solidFill>
                <a:latin typeface="Google Sans Flex"/>
                <a:ea typeface="Google Sans Flex"/>
                <a:cs typeface="Google Sans Flex"/>
                <a:sym typeface="Google Sans Flex"/>
              </a:rPr>
              <a:t>agent + tool gate</a:t>
            </a:r>
          </a:p>
        </p:txBody>
      </p:sp>
      <p:sp>
        <p:nvSpPr>
          <p:cNvPr id="129" name="tech row Google Cloud"/>
          <p:cNvSpPr/>
          <p:nvPr/>
        </p:nvSpPr>
        <p:spPr>
          <a:xfrm>
            <a:off x="384048" y="2337816"/>
            <a:ext cx="8375904" cy="1094232"/>
          </a:xfrm>
          <a:prstGeom prst="roundRect">
            <a:avLst>
              <a:gd name="adj" fmla="val 8000"/>
            </a:avLst>
          </a:prstGeom>
          <a:solidFill>
            <a:srgbClr val="F4F5F7"/>
          </a:solidFill>
          <a:ln>
            <a:noFill/>
          </a:ln>
        </p:spPr>
        <p:txBody>
          <a:bodyPr rtlCol="0" anchor="ctr"/>
          <a:lstStyle/>
          <a:p/>
        </p:txBody>
      </p:sp>
      <p:sp>
        <p:nvSpPr>
          <p:cNvPr id="130" name="tech node Google Cloud"/>
          <p:cNvSpPr/>
          <p:nvPr/>
        </p:nvSpPr>
        <p:spPr>
          <a:xfrm>
            <a:off x="612648" y="2747772"/>
            <a:ext cx="274320" cy="274320"/>
          </a:xfrm>
          <a:prstGeom prst="ellipse">
            <a:avLst/>
          </a:prstGeom>
          <a:solidFill>
            <a:srgbClr val="0D0F13"/>
          </a:solidFill>
          <a:ln>
            <a:noFill/>
          </a:ln>
        </p:spPr>
        <p:txBody>
          <a:bodyPr rtlCol="0" anchor="ctr"/>
          <a:lstStyle/>
          <a:p>
            <a:pPr algn="ctr"/>
          </a:p>
        </p:txBody>
      </p:sp>
      <p:sp>
        <p:nvSpPr>
          <p:cNvPr id="131" name="tech group Google Cloud"/>
          <p:cNvSpPr txBox="1"/>
          <p:nvPr/>
        </p:nvSpPr>
        <p:spPr>
          <a:xfrm>
            <a:off x="1042416" y="2337816"/>
            <a:ext cx="1463040" cy="1094232"/>
          </a:xfrm>
          <a:prstGeom prst="rect">
            <a:avLst/>
          </a:prstGeom>
          <a:noFill/>
        </p:spPr>
        <p:txBody>
          <a:bodyPr wrap="square" lIns="0" rIns="0" tIns="0" bIns="0" anchor="ctr"/>
          <a:lstStyle/>
          <a:p>
            <a:pPr algn="l"/>
            <a:r>
              <a:rPr sz="1400" b="0" i="0">
                <a:solidFill>
                  <a:srgbClr val="1E2228"/>
                </a:solidFill>
                <a:latin typeface="Google Sans Flex SemiBold"/>
                <a:ea typeface="Google Sans Flex SemiBold"/>
                <a:cs typeface="Google Sans Flex SemiBold"/>
                <a:sym typeface="Google Sans Flex SemiBold"/>
              </a:rPr>
              <a:t>Google Cloud</a:t>
            </a:r>
          </a:p>
        </p:txBody>
      </p:sp>
      <p:sp>
        <p:nvSpPr>
          <p:cNvPr id="132" name="tech Google Cloud 1"/>
          <p:cNvSpPr/>
          <p:nvPr/>
        </p:nvSpPr>
        <p:spPr>
          <a:xfrm>
            <a:off x="2624328" y="2493264"/>
            <a:ext cx="1911096" cy="783336"/>
          </a:xfrm>
          <a:prstGeom prst="roundRect">
            <a:avLst>
              <a:gd name="adj" fmla="val 14000"/>
            </a:avLst>
          </a:prstGeom>
          <a:solidFill>
            <a:srgbClr val="FFFFFF"/>
          </a:solidFill>
          <a:ln w="9525">
            <a:solidFill>
              <a:srgbClr val="DDE0E5"/>
            </a:solidFill>
          </a:ln>
        </p:spPr>
        <p:txBody>
          <a:bodyPr rtlCol="0" anchor="ctr"/>
          <a:lstStyle/>
          <a:p/>
        </p:txBody>
      </p:sp>
      <p:sp>
        <p:nvSpPr>
          <p:cNvPr id="133" name="tech Google Cloud 1 text"/>
          <p:cNvSpPr txBox="1"/>
          <p:nvPr/>
        </p:nvSpPr>
        <p:spPr>
          <a:xfrm>
            <a:off x="2752344" y="2493264"/>
            <a:ext cx="1655064" cy="783336"/>
          </a:xfrm>
          <a:prstGeom prst="rect">
            <a:avLst/>
          </a:prstGeom>
          <a:noFill/>
        </p:spPr>
        <p:txBody>
          <a:bodyPr wrap="square" lIns="0" rIns="0" tIns="0" bIns="0" anchor="ctr"/>
          <a:lstStyle/>
          <a:p>
            <a:pPr algn="l"/>
            <a:r>
              <a:rPr sz="1050" b="0" i="0">
                <a:solidFill>
                  <a:srgbClr val="1E2228"/>
                </a:solidFill>
                <a:latin typeface="Google Sans Flex SemiBold"/>
                <a:ea typeface="Google Sans Flex SemiBold"/>
                <a:cs typeface="Google Sans Flex SemiBold"/>
                <a:sym typeface="Google Sans Flex SemiBold"/>
              </a:rPr>
              <a:t>Cloud Run</a:t>
            </a:r>
          </a:p>
          <a:p>
            <a:pPr algn="l"/>
            <a:r>
              <a:rPr sz="900" b="0" i="0">
                <a:solidFill>
                  <a:srgbClr val="5B6270"/>
                </a:solidFill>
                <a:latin typeface="Google Sans Flex"/>
                <a:ea typeface="Google Sans Flex"/>
                <a:cs typeface="Google Sans Flex"/>
                <a:sym typeface="Google Sans Flex"/>
              </a:rPr>
              <a:t>policy service + agent</a:t>
            </a:r>
          </a:p>
        </p:txBody>
      </p:sp>
      <p:sp>
        <p:nvSpPr>
          <p:cNvPr id="134" name="tech Google Cloud 2"/>
          <p:cNvSpPr/>
          <p:nvPr/>
        </p:nvSpPr>
        <p:spPr>
          <a:xfrm>
            <a:off x="4645152" y="2493264"/>
            <a:ext cx="1911096" cy="783336"/>
          </a:xfrm>
          <a:prstGeom prst="roundRect">
            <a:avLst>
              <a:gd name="adj" fmla="val 14000"/>
            </a:avLst>
          </a:prstGeom>
          <a:solidFill>
            <a:srgbClr val="FFFFFF"/>
          </a:solidFill>
          <a:ln w="9525">
            <a:solidFill>
              <a:srgbClr val="DDE0E5"/>
            </a:solidFill>
          </a:ln>
        </p:spPr>
        <p:txBody>
          <a:bodyPr rtlCol="0" anchor="ctr"/>
          <a:lstStyle/>
          <a:p/>
        </p:txBody>
      </p:sp>
      <p:sp>
        <p:nvSpPr>
          <p:cNvPr id="135" name="tech Google Cloud 2 text"/>
          <p:cNvSpPr txBox="1"/>
          <p:nvPr/>
        </p:nvSpPr>
        <p:spPr>
          <a:xfrm>
            <a:off x="4773168" y="2493264"/>
            <a:ext cx="1655064" cy="783336"/>
          </a:xfrm>
          <a:prstGeom prst="rect">
            <a:avLst/>
          </a:prstGeom>
          <a:noFill/>
        </p:spPr>
        <p:txBody>
          <a:bodyPr wrap="square" lIns="0" rIns="0" tIns="0" bIns="0" anchor="ctr"/>
          <a:lstStyle/>
          <a:p>
            <a:pPr algn="l"/>
            <a:r>
              <a:rPr sz="1050" b="0" i="0">
                <a:solidFill>
                  <a:srgbClr val="1E2228"/>
                </a:solidFill>
                <a:latin typeface="Google Sans Flex SemiBold"/>
                <a:ea typeface="Google Sans Flex SemiBold"/>
                <a:cs typeface="Google Sans Flex SemiBold"/>
                <a:sym typeface="Google Sans Flex SemiBold"/>
              </a:rPr>
              <a:t>Firestore</a:t>
            </a:r>
          </a:p>
          <a:p>
            <a:pPr algn="l"/>
            <a:r>
              <a:rPr sz="900" b="0" i="0">
                <a:solidFill>
                  <a:srgbClr val="5B6270"/>
                </a:solidFill>
                <a:latin typeface="Google Sans Flex"/>
                <a:ea typeface="Google Sans Flex"/>
                <a:cs typeface="Google Sans Flex"/>
                <a:sym typeface="Google Sans Flex"/>
              </a:rPr>
              <a:t>links, policies, audit</a:t>
            </a:r>
          </a:p>
        </p:txBody>
      </p:sp>
      <p:sp>
        <p:nvSpPr>
          <p:cNvPr id="136" name="tech Google Cloud 3"/>
          <p:cNvSpPr/>
          <p:nvPr/>
        </p:nvSpPr>
        <p:spPr>
          <a:xfrm>
            <a:off x="6665976" y="2493264"/>
            <a:ext cx="1911096" cy="783336"/>
          </a:xfrm>
          <a:prstGeom prst="roundRect">
            <a:avLst>
              <a:gd name="adj" fmla="val 14000"/>
            </a:avLst>
          </a:prstGeom>
          <a:solidFill>
            <a:srgbClr val="FFFFFF"/>
          </a:solidFill>
          <a:ln w="9525">
            <a:solidFill>
              <a:srgbClr val="DDE0E5"/>
            </a:solidFill>
          </a:ln>
        </p:spPr>
        <p:txBody>
          <a:bodyPr rtlCol="0" anchor="ctr"/>
          <a:lstStyle/>
          <a:p/>
        </p:txBody>
      </p:sp>
      <p:sp>
        <p:nvSpPr>
          <p:cNvPr id="137" name="tech Google Cloud 3 text"/>
          <p:cNvSpPr txBox="1"/>
          <p:nvPr/>
        </p:nvSpPr>
        <p:spPr>
          <a:xfrm>
            <a:off x="6793992" y="2493264"/>
            <a:ext cx="1655064" cy="783336"/>
          </a:xfrm>
          <a:prstGeom prst="rect">
            <a:avLst/>
          </a:prstGeom>
          <a:noFill/>
        </p:spPr>
        <p:txBody>
          <a:bodyPr wrap="square" lIns="0" rIns="0" tIns="0" bIns="0" anchor="ctr"/>
          <a:lstStyle/>
          <a:p>
            <a:pPr algn="l"/>
            <a:r>
              <a:rPr sz="1050" b="0" i="0">
                <a:solidFill>
                  <a:srgbClr val="1E2228"/>
                </a:solidFill>
                <a:latin typeface="Google Sans Flex SemiBold"/>
                <a:ea typeface="Google Sans Flex SemiBold"/>
                <a:cs typeface="Google Sans Flex SemiBold"/>
                <a:sym typeface="Google Sans Flex SemiBold"/>
              </a:rPr>
              <a:t>Secret Manager</a:t>
            </a:r>
          </a:p>
          <a:p>
            <a:pPr algn="l"/>
            <a:r>
              <a:rPr sz="900" b="0" i="0">
                <a:solidFill>
                  <a:srgbClr val="5B6270"/>
                </a:solidFill>
                <a:latin typeface="Google Sans Flex"/>
                <a:ea typeface="Google Sans Flex"/>
                <a:cs typeface="Google Sans Flex"/>
                <a:sym typeface="Google Sans Flex"/>
              </a:rPr>
              <a:t>Cloud Build</a:t>
            </a:r>
          </a:p>
        </p:txBody>
      </p:sp>
      <p:sp>
        <p:nvSpPr>
          <p:cNvPr id="138" name="tech row Product"/>
          <p:cNvSpPr/>
          <p:nvPr/>
        </p:nvSpPr>
        <p:spPr>
          <a:xfrm>
            <a:off x="384048" y="3596640"/>
            <a:ext cx="8375904" cy="1094232"/>
          </a:xfrm>
          <a:prstGeom prst="roundRect">
            <a:avLst>
              <a:gd name="adj" fmla="val 8000"/>
            </a:avLst>
          </a:prstGeom>
          <a:solidFill>
            <a:srgbClr val="F4F5F7"/>
          </a:solidFill>
          <a:ln>
            <a:noFill/>
          </a:ln>
        </p:spPr>
        <p:txBody>
          <a:bodyPr rtlCol="0" anchor="ctr"/>
          <a:lstStyle/>
          <a:p/>
        </p:txBody>
      </p:sp>
      <p:sp>
        <p:nvSpPr>
          <p:cNvPr id="139" name="tech node Product"/>
          <p:cNvSpPr/>
          <p:nvPr/>
        </p:nvSpPr>
        <p:spPr>
          <a:xfrm>
            <a:off x="612648" y="4006596"/>
            <a:ext cx="274320" cy="274320"/>
          </a:xfrm>
          <a:prstGeom prst="ellipse">
            <a:avLst/>
          </a:prstGeom>
          <a:solidFill>
            <a:srgbClr val="0D0F13"/>
          </a:solidFill>
          <a:ln>
            <a:noFill/>
          </a:ln>
        </p:spPr>
        <p:txBody>
          <a:bodyPr rtlCol="0" anchor="ctr"/>
          <a:lstStyle/>
          <a:p>
            <a:pPr algn="ctr"/>
          </a:p>
        </p:txBody>
      </p:sp>
      <p:sp>
        <p:nvSpPr>
          <p:cNvPr id="140" name="tech group Product"/>
          <p:cNvSpPr txBox="1"/>
          <p:nvPr/>
        </p:nvSpPr>
        <p:spPr>
          <a:xfrm>
            <a:off x="1042416" y="3596640"/>
            <a:ext cx="1463040" cy="1094232"/>
          </a:xfrm>
          <a:prstGeom prst="rect">
            <a:avLst/>
          </a:prstGeom>
          <a:noFill/>
        </p:spPr>
        <p:txBody>
          <a:bodyPr wrap="square" lIns="0" rIns="0" tIns="0" bIns="0" anchor="ctr"/>
          <a:lstStyle/>
          <a:p>
            <a:pPr algn="l"/>
            <a:r>
              <a:rPr sz="1400" b="0" i="0">
                <a:solidFill>
                  <a:srgbClr val="1E2228"/>
                </a:solidFill>
                <a:latin typeface="Google Sans Flex SemiBold"/>
                <a:ea typeface="Google Sans Flex SemiBold"/>
                <a:cs typeface="Google Sans Flex SemiBold"/>
                <a:sym typeface="Google Sans Flex SemiBold"/>
              </a:rPr>
              <a:t>Product</a:t>
            </a:r>
          </a:p>
        </p:txBody>
      </p:sp>
      <p:sp>
        <p:nvSpPr>
          <p:cNvPr id="141" name="tech Product 1"/>
          <p:cNvSpPr/>
          <p:nvPr/>
        </p:nvSpPr>
        <p:spPr>
          <a:xfrm>
            <a:off x="2624328" y="3752088"/>
            <a:ext cx="1911096" cy="783336"/>
          </a:xfrm>
          <a:prstGeom prst="roundRect">
            <a:avLst>
              <a:gd name="adj" fmla="val 14000"/>
            </a:avLst>
          </a:prstGeom>
          <a:solidFill>
            <a:srgbClr val="FFFFFF"/>
          </a:solidFill>
          <a:ln w="9525">
            <a:solidFill>
              <a:srgbClr val="DDE0E5"/>
            </a:solidFill>
          </a:ln>
        </p:spPr>
        <p:txBody>
          <a:bodyPr rtlCol="0" anchor="ctr"/>
          <a:lstStyle/>
          <a:p/>
        </p:txBody>
      </p:sp>
      <p:sp>
        <p:nvSpPr>
          <p:cNvPr id="142" name="tech Product 1 text"/>
          <p:cNvSpPr txBox="1"/>
          <p:nvPr/>
        </p:nvSpPr>
        <p:spPr>
          <a:xfrm>
            <a:off x="2752344" y="3752088"/>
            <a:ext cx="1655064" cy="783336"/>
          </a:xfrm>
          <a:prstGeom prst="rect">
            <a:avLst/>
          </a:prstGeom>
          <a:noFill/>
        </p:spPr>
        <p:txBody>
          <a:bodyPr wrap="square" lIns="0" rIns="0" tIns="0" bIns="0" anchor="ctr"/>
          <a:lstStyle/>
          <a:p>
            <a:pPr algn="l"/>
            <a:r>
              <a:rPr sz="1050" b="0" i="0">
                <a:solidFill>
                  <a:srgbClr val="1E2228"/>
                </a:solidFill>
                <a:latin typeface="Google Sans Flex SemiBold"/>
                <a:ea typeface="Google Sans Flex SemiBold"/>
                <a:cs typeface="Google Sans Flex SemiBold"/>
                <a:sym typeface="Google Sans Flex SemiBold"/>
              </a:rPr>
              <a:t>Chrome extension (Manifest V3, TypeScript)</a:t>
            </a:r>
          </a:p>
        </p:txBody>
      </p:sp>
      <p:sp>
        <p:nvSpPr>
          <p:cNvPr id="143" name="tech Product 2"/>
          <p:cNvSpPr/>
          <p:nvPr/>
        </p:nvSpPr>
        <p:spPr>
          <a:xfrm>
            <a:off x="4645152" y="3752088"/>
            <a:ext cx="1911096" cy="783336"/>
          </a:xfrm>
          <a:prstGeom prst="roundRect">
            <a:avLst>
              <a:gd name="adj" fmla="val 14000"/>
            </a:avLst>
          </a:prstGeom>
          <a:solidFill>
            <a:srgbClr val="FFFFFF"/>
          </a:solidFill>
          <a:ln w="9525">
            <a:solidFill>
              <a:srgbClr val="DDE0E5"/>
            </a:solidFill>
          </a:ln>
        </p:spPr>
        <p:txBody>
          <a:bodyPr rtlCol="0" anchor="ctr"/>
          <a:lstStyle/>
          <a:p/>
        </p:txBody>
      </p:sp>
      <p:sp>
        <p:nvSpPr>
          <p:cNvPr id="144" name="tech Product 2 text"/>
          <p:cNvSpPr txBox="1"/>
          <p:nvPr/>
        </p:nvSpPr>
        <p:spPr>
          <a:xfrm>
            <a:off x="4773168" y="3752088"/>
            <a:ext cx="1655064" cy="783336"/>
          </a:xfrm>
          <a:prstGeom prst="rect">
            <a:avLst/>
          </a:prstGeom>
          <a:noFill/>
        </p:spPr>
        <p:txBody>
          <a:bodyPr wrap="square" lIns="0" rIns="0" tIns="0" bIns="0" anchor="ctr"/>
          <a:lstStyle/>
          <a:p>
            <a:pPr algn="l"/>
            <a:r>
              <a:rPr sz="1050" b="0" i="0">
                <a:solidFill>
                  <a:srgbClr val="1E2228"/>
                </a:solidFill>
                <a:latin typeface="Google Sans Flex SemiBold"/>
                <a:ea typeface="Google Sans Flex SemiBold"/>
                <a:cs typeface="Google Sans Flex SemiBold"/>
                <a:sym typeface="Google Sans Flex SemiBold"/>
              </a:rPr>
              <a:t>Node.js 26 + TypeScript</a:t>
            </a:r>
          </a:p>
          <a:p>
            <a:pPr algn="l"/>
            <a:r>
              <a:rPr sz="900" b="0" i="0">
                <a:solidFill>
                  <a:srgbClr val="5B6270"/>
                </a:solidFill>
                <a:latin typeface="Google Sans Flex"/>
                <a:ea typeface="Google Sans Flex"/>
                <a:cs typeface="Google Sans Flex"/>
                <a:sym typeface="Google Sans Flex"/>
              </a:rPr>
              <a:t>Python 3.14 + FastAPI</a:t>
            </a:r>
          </a:p>
        </p:txBody>
      </p:sp>
      <p:sp>
        <p:nvSpPr>
          <p:cNvPr id="145" name="tech Product 3"/>
          <p:cNvSpPr/>
          <p:nvPr/>
        </p:nvSpPr>
        <p:spPr>
          <a:xfrm>
            <a:off x="6665976" y="3752088"/>
            <a:ext cx="1911096" cy="783336"/>
          </a:xfrm>
          <a:prstGeom prst="roundRect">
            <a:avLst>
              <a:gd name="adj" fmla="val 14000"/>
            </a:avLst>
          </a:prstGeom>
          <a:solidFill>
            <a:srgbClr val="FFFFFF"/>
          </a:solidFill>
          <a:ln w="9525">
            <a:solidFill>
              <a:srgbClr val="DDE0E5"/>
            </a:solidFill>
          </a:ln>
        </p:spPr>
        <p:txBody>
          <a:bodyPr rtlCol="0" anchor="ctr"/>
          <a:lstStyle/>
          <a:p/>
        </p:txBody>
      </p:sp>
      <p:sp>
        <p:nvSpPr>
          <p:cNvPr id="146" name="tech Product 3 text"/>
          <p:cNvSpPr txBox="1"/>
          <p:nvPr/>
        </p:nvSpPr>
        <p:spPr>
          <a:xfrm>
            <a:off x="6793992" y="3752088"/>
            <a:ext cx="1655064" cy="783336"/>
          </a:xfrm>
          <a:prstGeom prst="rect">
            <a:avLst/>
          </a:prstGeom>
          <a:noFill/>
        </p:spPr>
        <p:txBody>
          <a:bodyPr wrap="square" lIns="0" rIns="0" tIns="0" bIns="0" anchor="ctr"/>
          <a:lstStyle/>
          <a:p>
            <a:pPr algn="l"/>
            <a:r>
              <a:rPr sz="1050" b="0" i="0">
                <a:solidFill>
                  <a:srgbClr val="1E2228"/>
                </a:solidFill>
                <a:latin typeface="Google Sans Flex SemiBold"/>
                <a:ea typeface="Google Sans Flex SemiBold"/>
                <a:cs typeface="Google Sans Flex SemiBold"/>
                <a:sym typeface="Google Sans Flex SemiBold"/>
              </a:rPr>
              <a:t>Zod schemas</a:t>
            </a:r>
          </a:p>
          <a:p>
            <a:pPr algn="l"/>
            <a:r>
              <a:rPr sz="900" b="0" i="0">
                <a:solidFill>
                  <a:srgbClr val="5B6270"/>
                </a:solidFill>
                <a:latin typeface="Google Sans Flex"/>
                <a:ea typeface="Google Sans Flex"/>
                <a:cs typeface="Google Sans Flex"/>
                <a:sym typeface="Google Sans Flex"/>
              </a:rPr>
              <a:t>signed tokens · hash-chained audit</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03504"/>
            <a:ext cx="8943000"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b="0" i="0">
                <a:solidFill>
                  <a:srgbClr val="1E2228"/>
                </a:solidFill>
                <a:latin typeface="Google Sans Flex SemiBold"/>
                <a:ea typeface="Google Sans Flex SemiBold"/>
                <a:cs typeface="Google Sans Flex SemiBold"/>
                <a:sym typeface="Google Sans Flex SemiBold"/>
              </a:rPr>
              <a:t>Snapshots of the prototype</a:t>
            </a:r>
            <a:endParaRPr sz="1600">
              <a:latin typeface="Google Sans Flex Medium"/>
              <a:ea typeface="Google Sans Flex Medium"/>
              <a:cs typeface="Google Sans Flex Medium"/>
              <a:sym typeface="Google Sans Flex Medium"/>
            </a:endParaRPr>
          </a:p>
        </p:txBody>
      </p:sp>
      <p:sp>
        <p:nvSpPr>
          <p:cNvPr id="136" name="snapshot landing frame"/>
          <p:cNvSpPr/>
          <p:nvPr/>
        </p:nvSpPr>
        <p:spPr>
          <a:xfrm>
            <a:off x="393192" y="1124712"/>
            <a:ext cx="3364992" cy="2123694"/>
          </a:xfrm>
          <a:prstGeom prst="roundRect">
            <a:avLst>
              <a:gd name="adj" fmla="val 4000"/>
            </a:avLst>
          </a:prstGeom>
          <a:noFill/>
          <a:ln w="9525">
            <a:solidFill>
              <a:srgbClr val="DDE0E5"/>
            </a:solidFill>
          </a:ln>
        </p:spPr>
        <p:txBody>
          <a:bodyPr rtlCol="0" anchor="ctr"/>
          <a:lstStyle/>
          <a:p/>
        </p:txBody>
      </p:sp>
      <p:pic>
        <p:nvPicPr>
          <p:cNvPr id="137" name="snapshot landing" descr="shot-landing.png"/>
          <p:cNvPicPr>
            <a:picLocks noChangeAspect="1"/>
          </p:cNvPicPr>
          <p:nvPr/>
        </p:nvPicPr>
        <p:blipFill>
          <a:blip r:embed="rId5"/>
          <a:stretch>
            <a:fillRect/>
          </a:stretch>
        </p:blipFill>
        <p:spPr>
          <a:xfrm>
            <a:off x="420624" y="1152144"/>
            <a:ext cx="3310128" cy="2068830"/>
          </a:xfrm>
          <a:prstGeom prst="rect">
            <a:avLst/>
          </a:prstGeom>
        </p:spPr>
      </p:pic>
      <p:sp>
        <p:nvSpPr>
          <p:cNvPr id="138" name="snapshot consent frame"/>
          <p:cNvSpPr/>
          <p:nvPr/>
        </p:nvSpPr>
        <p:spPr>
          <a:xfrm>
            <a:off x="3959352" y="1124712"/>
            <a:ext cx="3364992" cy="2123694"/>
          </a:xfrm>
          <a:prstGeom prst="roundRect">
            <a:avLst>
              <a:gd name="adj" fmla="val 4000"/>
            </a:avLst>
          </a:prstGeom>
          <a:noFill/>
          <a:ln w="9525">
            <a:solidFill>
              <a:srgbClr val="DDE0E5"/>
            </a:solidFill>
          </a:ln>
        </p:spPr>
        <p:txBody>
          <a:bodyPr rtlCol="0" anchor="ctr"/>
          <a:lstStyle/>
          <a:p/>
        </p:txBody>
      </p:sp>
      <p:pic>
        <p:nvPicPr>
          <p:cNvPr id="139" name="snapshot consent" descr="shot-consent.png"/>
          <p:cNvPicPr>
            <a:picLocks noChangeAspect="1"/>
          </p:cNvPicPr>
          <p:nvPr/>
        </p:nvPicPr>
        <p:blipFill>
          <a:blip r:embed="rId6"/>
          <a:stretch>
            <a:fillRect/>
          </a:stretch>
        </p:blipFill>
        <p:spPr>
          <a:xfrm>
            <a:off x="3986784" y="1152144"/>
            <a:ext cx="3310128" cy="2068830"/>
          </a:xfrm>
          <a:prstGeom prst="rect">
            <a:avLst/>
          </a:prstGeom>
        </p:spPr>
      </p:pic>
      <p:sp>
        <p:nvSpPr>
          <p:cNvPr id="140" name="snapshot panel frame"/>
          <p:cNvSpPr/>
          <p:nvPr/>
        </p:nvSpPr>
        <p:spPr>
          <a:xfrm>
            <a:off x="7525512" y="1124712"/>
            <a:ext cx="1243584" cy="2432304"/>
          </a:xfrm>
          <a:prstGeom prst="roundRect">
            <a:avLst>
              <a:gd name="adj" fmla="val 4000"/>
            </a:avLst>
          </a:prstGeom>
          <a:noFill/>
          <a:ln w="9525">
            <a:solidFill>
              <a:srgbClr val="DDE0E5"/>
            </a:solidFill>
          </a:ln>
        </p:spPr>
        <p:txBody>
          <a:bodyPr rtlCol="0" anchor="ctr"/>
          <a:lstStyle/>
          <a:p/>
        </p:txBody>
      </p:sp>
      <p:pic>
        <p:nvPicPr>
          <p:cNvPr id="141" name="snapshot panel" descr="shot-panel.png"/>
          <p:cNvPicPr>
            <a:picLocks noChangeAspect="1"/>
          </p:cNvPicPr>
          <p:nvPr/>
        </p:nvPicPr>
        <p:blipFill>
          <a:blip r:embed="rId7"/>
          <a:stretch>
            <a:fillRect/>
          </a:stretch>
        </p:blipFill>
        <p:spPr>
          <a:xfrm>
            <a:off x="7552944" y="1152144"/>
            <a:ext cx="1188720" cy="2377440"/>
          </a:xfrm>
          <a:prstGeom prst="rect">
            <a:avLst/>
          </a:prstGeom>
        </p:spPr>
      </p:pic>
      <p:sp>
        <p:nvSpPr>
          <p:cNvPr id="142" name="caption Landing page"/>
          <p:cNvSpPr txBox="1"/>
          <p:nvPr/>
        </p:nvSpPr>
        <p:spPr>
          <a:xfrm>
            <a:off x="384048" y="3675888"/>
            <a:ext cx="3310128" cy="640080"/>
          </a:xfrm>
          <a:prstGeom prst="rect">
            <a:avLst/>
          </a:prstGeom>
          <a:noFill/>
        </p:spPr>
        <p:txBody>
          <a:bodyPr wrap="square" lIns="0" rIns="0" tIns="0" bIns="0" anchor="t"/>
          <a:lstStyle/>
          <a:p>
            <a:pPr algn="l"/>
            <a:r>
              <a:rPr sz="1150" b="0" i="0">
                <a:solidFill>
                  <a:srgbClr val="1E2228"/>
                </a:solidFill>
                <a:latin typeface="Google Sans Flex SemiBold"/>
                <a:ea typeface="Google Sans Flex SemiBold"/>
                <a:cs typeface="Google Sans Flex SemiBold"/>
                <a:sym typeface="Google Sans Flex SemiBold"/>
              </a:rPr>
              <a:t>Landing page</a:t>
            </a:r>
          </a:p>
          <a:p>
            <a:pPr algn="l"/>
            <a:r>
              <a:rPr sz="950" b="0" i="0">
                <a:solidFill>
                  <a:srgbClr val="5B6270"/>
                </a:solidFill>
                <a:latin typeface="Google Sans Flex"/>
                <a:ea typeface="Google Sans Flex"/>
                <a:cs typeface="Google Sans Flex"/>
                <a:sym typeface="Google Sans Flex"/>
              </a:rPr>
              <a:t>Live on Cloud Run, with the extension download and a demo link.</a:t>
            </a:r>
          </a:p>
        </p:txBody>
      </p:sp>
      <p:sp>
        <p:nvSpPr>
          <p:cNvPr id="143" name="caption Consent page"/>
          <p:cNvSpPr txBox="1"/>
          <p:nvPr/>
        </p:nvSpPr>
        <p:spPr>
          <a:xfrm>
            <a:off x="3959352" y="3675888"/>
            <a:ext cx="3310128" cy="640080"/>
          </a:xfrm>
          <a:prstGeom prst="rect">
            <a:avLst/>
          </a:prstGeom>
          <a:noFill/>
        </p:spPr>
        <p:txBody>
          <a:bodyPr wrap="square" lIns="0" rIns="0" tIns="0" bIns="0" anchor="t"/>
          <a:lstStyle/>
          <a:p>
            <a:pPr algn="l"/>
            <a:r>
              <a:rPr sz="1150" b="0" i="0">
                <a:solidFill>
                  <a:srgbClr val="1E2228"/>
                </a:solidFill>
                <a:latin typeface="Google Sans Flex SemiBold"/>
                <a:ea typeface="Google Sans Flex SemiBold"/>
                <a:cs typeface="Google Sans Flex SemiBold"/>
                <a:sym typeface="Google Sans Flex SemiBold"/>
              </a:rPr>
              <a:t>Consent page</a:t>
            </a:r>
          </a:p>
          <a:p>
            <a:pPr algn="l"/>
            <a:r>
              <a:rPr sz="950" b="0" i="0">
                <a:solidFill>
                  <a:srgbClr val="5B6270"/>
                </a:solidFill>
                <a:latin typeface="Google Sans Flex"/>
                <a:ea typeface="Google Sans Flex"/>
                <a:cs typeface="Google Sans Flex"/>
                <a:sym typeface="Google Sans Flex"/>
              </a:rPr>
              <a:t>What the link will do, what it may never do, and what you can change.</a:t>
            </a:r>
          </a:p>
        </p:txBody>
      </p:sp>
      <p:sp>
        <p:nvSpPr>
          <p:cNvPr id="144" name="caption Side panel"/>
          <p:cNvSpPr txBox="1"/>
          <p:nvPr/>
        </p:nvSpPr>
        <p:spPr>
          <a:xfrm>
            <a:off x="7525511" y="3675888"/>
            <a:ext cx="1234440" cy="640080"/>
          </a:xfrm>
          <a:prstGeom prst="rect">
            <a:avLst/>
          </a:prstGeom>
          <a:noFill/>
        </p:spPr>
        <p:txBody>
          <a:bodyPr wrap="square" lIns="0" rIns="0" tIns="0" bIns="0" anchor="t"/>
          <a:lstStyle/>
          <a:p>
            <a:pPr algn="l"/>
            <a:r>
              <a:rPr sz="1150" b="0" i="0">
                <a:solidFill>
                  <a:srgbClr val="1E2228"/>
                </a:solidFill>
                <a:latin typeface="Google Sans Flex SemiBold"/>
                <a:ea typeface="Google Sans Flex SemiBold"/>
                <a:cs typeface="Google Sans Flex SemiBold"/>
                <a:sym typeface="Google Sans Flex SemiBold"/>
              </a:rPr>
              <a:t>Side panel</a:t>
            </a:r>
          </a:p>
          <a:p>
            <a:pPr algn="l"/>
            <a:r>
              <a:rPr sz="950" b="0" i="0">
                <a:solidFill>
                  <a:srgbClr val="5B6270"/>
                </a:solidFill>
                <a:latin typeface="Google Sans Flex"/>
                <a:ea typeface="Google Sans Flex"/>
                <a:cs typeface="Google Sans Flex"/>
                <a:sym typeface="Google Sans Flex"/>
              </a:rPr>
              <a:t>Record, set limits, watch the run.</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03504"/>
            <a:ext cx="8943000"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b="0" i="0">
                <a:solidFill>
                  <a:srgbClr val="1E2228"/>
                </a:solidFill>
                <a:latin typeface="Google Sans Flex SemiBold"/>
                <a:ea typeface="Google Sans Flex SemiBold"/>
                <a:cs typeface="Google Sans Flex SemiBold"/>
                <a:sym typeface="Google Sans Flex SemiBold"/>
              </a:rPr>
              <a:t>Prototype performance</a:t>
            </a:r>
            <a:endParaRPr sz="1600">
              <a:latin typeface="Google Sans Flex Medium"/>
              <a:ea typeface="Google Sans Flex Medium"/>
              <a:cs typeface="Google Sans Flex Medium"/>
              <a:sym typeface="Google Sans Flex Medium"/>
            </a:endParaRPr>
          </a:p>
        </p:txBody>
      </p:sp>
      <p:sp>
        <p:nvSpPr>
          <p:cNvPr id="144" name="stat 1"/>
          <p:cNvSpPr/>
          <p:nvPr/>
        </p:nvSpPr>
        <p:spPr>
          <a:xfrm>
            <a:off x="384048" y="1078992"/>
            <a:ext cx="1970532" cy="2514600"/>
          </a:xfrm>
          <a:prstGeom prst="roundRect">
            <a:avLst>
              <a:gd name="adj" fmla="val 6000"/>
            </a:avLst>
          </a:prstGeom>
          <a:solidFill>
            <a:srgbClr val="0D0F13"/>
          </a:solidFill>
          <a:ln>
            <a:noFill/>
          </a:ln>
        </p:spPr>
        <p:txBody>
          <a:bodyPr rtlCol="0" anchor="ctr"/>
          <a:lstStyle/>
          <a:p/>
        </p:txBody>
      </p:sp>
      <p:sp>
        <p:nvSpPr>
          <p:cNvPr id="145" name="stat 1 value"/>
          <p:cNvSpPr txBox="1"/>
          <p:nvPr/>
        </p:nvSpPr>
        <p:spPr>
          <a:xfrm>
            <a:off x="585216" y="1353312"/>
            <a:ext cx="1604772" cy="822960"/>
          </a:xfrm>
          <a:prstGeom prst="rect">
            <a:avLst/>
          </a:prstGeom>
          <a:noFill/>
        </p:spPr>
        <p:txBody>
          <a:bodyPr wrap="square" lIns="0" rIns="0" tIns="0" bIns="0" anchor="t"/>
          <a:lstStyle/>
          <a:p>
            <a:pPr algn="l"/>
            <a:r>
              <a:rPr sz="3400" b="0" i="0">
                <a:solidFill>
                  <a:srgbClr val="2DD4A7"/>
                </a:solidFill>
                <a:latin typeface="Google Sans Flex SemiBold"/>
                <a:ea typeface="Google Sans Flex SemiBold"/>
                <a:cs typeface="Google Sans Flex SemiBold"/>
                <a:sym typeface="Google Sans Flex SemiBold"/>
              </a:rPr>
              <a:t>226</a:t>
            </a:r>
          </a:p>
        </p:txBody>
      </p:sp>
      <p:sp>
        <p:nvSpPr>
          <p:cNvPr id="146" name="stat 1 label"/>
          <p:cNvSpPr txBox="1"/>
          <p:nvPr/>
        </p:nvSpPr>
        <p:spPr>
          <a:xfrm>
            <a:off x="585216" y="2176272"/>
            <a:ext cx="1604772" cy="457200"/>
          </a:xfrm>
          <a:prstGeom prst="rect">
            <a:avLst/>
          </a:prstGeom>
          <a:noFill/>
        </p:spPr>
        <p:txBody>
          <a:bodyPr wrap="square" lIns="0" rIns="0" tIns="0" bIns="0" anchor="t"/>
          <a:lstStyle/>
          <a:p>
            <a:pPr algn="l"/>
            <a:r>
              <a:rPr sz="1200" b="0" i="0">
                <a:solidFill>
                  <a:srgbClr val="FFFFFF"/>
                </a:solidFill>
                <a:latin typeface="Google Sans Flex SemiBold"/>
                <a:ea typeface="Google Sans Flex SemiBold"/>
                <a:cs typeface="Google Sans Flex SemiBold"/>
                <a:sym typeface="Google Sans Flex SemiBold"/>
              </a:rPr>
              <a:t>automated tests passing</a:t>
            </a:r>
          </a:p>
        </p:txBody>
      </p:sp>
      <p:sp>
        <p:nvSpPr>
          <p:cNvPr id="147" name="stat 1 sub"/>
          <p:cNvSpPr txBox="1"/>
          <p:nvPr/>
        </p:nvSpPr>
        <p:spPr>
          <a:xfrm>
            <a:off x="585216" y="2615184"/>
            <a:ext cx="1604772" cy="914400"/>
          </a:xfrm>
          <a:prstGeom prst="rect">
            <a:avLst/>
          </a:prstGeom>
          <a:noFill/>
        </p:spPr>
        <p:txBody>
          <a:bodyPr wrap="square" lIns="0" rIns="0" tIns="0" bIns="0" anchor="t"/>
          <a:lstStyle/>
          <a:p>
            <a:pPr algn="l">
              <a:lnSpc>
                <a:spcPct val="110000"/>
              </a:lnSpc>
            </a:pPr>
            <a:r>
              <a:rPr sz="950" b="0" i="0">
                <a:solidFill>
                  <a:srgbClr val="C3C8D1"/>
                </a:solidFill>
                <a:latin typeface="Google Sans Flex"/>
                <a:ea typeface="Google Sans Flex"/>
                <a:cs typeface="Google Sans Flex"/>
                <a:sym typeface="Google Sans Flex"/>
              </a:rPr>
              <a:t>across schema, policy engine, compiler, API, extension and agent</a:t>
            </a:r>
          </a:p>
        </p:txBody>
      </p:sp>
      <p:sp>
        <p:nvSpPr>
          <p:cNvPr id="148" name="stat 2"/>
          <p:cNvSpPr/>
          <p:nvPr/>
        </p:nvSpPr>
        <p:spPr>
          <a:xfrm>
            <a:off x="2519172" y="1078992"/>
            <a:ext cx="1970532" cy="2514600"/>
          </a:xfrm>
          <a:prstGeom prst="roundRect">
            <a:avLst>
              <a:gd name="adj" fmla="val 6000"/>
            </a:avLst>
          </a:prstGeom>
          <a:solidFill>
            <a:srgbClr val="F4F5F7"/>
          </a:solidFill>
          <a:ln>
            <a:noFill/>
          </a:ln>
        </p:spPr>
        <p:txBody>
          <a:bodyPr rtlCol="0" anchor="ctr"/>
          <a:lstStyle/>
          <a:p/>
        </p:txBody>
      </p:sp>
      <p:sp>
        <p:nvSpPr>
          <p:cNvPr id="149" name="stat 2 value"/>
          <p:cNvSpPr txBox="1"/>
          <p:nvPr/>
        </p:nvSpPr>
        <p:spPr>
          <a:xfrm>
            <a:off x="2720340" y="1353312"/>
            <a:ext cx="1604772" cy="822960"/>
          </a:xfrm>
          <a:prstGeom prst="rect">
            <a:avLst/>
          </a:prstGeom>
          <a:noFill/>
        </p:spPr>
        <p:txBody>
          <a:bodyPr wrap="square" lIns="0" rIns="0" tIns="0" bIns="0" anchor="t"/>
          <a:lstStyle/>
          <a:p>
            <a:pPr algn="l"/>
            <a:r>
              <a:rPr sz="3400" b="0" i="0">
                <a:solidFill>
                  <a:srgbClr val="1E2228"/>
                </a:solidFill>
                <a:latin typeface="Google Sans Flex SemiBold"/>
                <a:ea typeface="Google Sans Flex SemiBold"/>
                <a:cs typeface="Google Sans Flex SemiBold"/>
                <a:sym typeface="Google Sans Flex SemiBold"/>
              </a:rPr>
              <a:t>~1 s</a:t>
            </a:r>
          </a:p>
        </p:txBody>
      </p:sp>
      <p:sp>
        <p:nvSpPr>
          <p:cNvPr id="150" name="stat 2 label"/>
          <p:cNvSpPr txBox="1"/>
          <p:nvPr/>
        </p:nvSpPr>
        <p:spPr>
          <a:xfrm>
            <a:off x="2720340" y="2176272"/>
            <a:ext cx="1604772"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per agent step</a:t>
            </a:r>
          </a:p>
        </p:txBody>
      </p:sp>
      <p:sp>
        <p:nvSpPr>
          <p:cNvPr id="151" name="stat 2 sub"/>
          <p:cNvSpPr txBox="1"/>
          <p:nvPr/>
        </p:nvSpPr>
        <p:spPr>
          <a:xfrm>
            <a:off x="2720340" y="2615184"/>
            <a:ext cx="1604772" cy="914400"/>
          </a:xfrm>
          <a:prstGeom prst="rect">
            <a:avLst/>
          </a:prstGeom>
          <a:noFill/>
        </p:spPr>
        <p:txBody>
          <a:bodyPr wrap="square" lIns="0" rIns="0" tIns="0" bIns="0" anchor="t"/>
          <a:lstStyle/>
          <a:p>
            <a:pPr algn="l">
              <a:lnSpc>
                <a:spcPct val="110000"/>
              </a:lnSpc>
            </a:pPr>
            <a:r>
              <a:rPr sz="950" b="0" i="0">
                <a:solidFill>
                  <a:srgbClr val="5B6270"/>
                </a:solidFill>
                <a:latin typeface="Google Sans Flex"/>
                <a:ea typeface="Google Sans Flex"/>
                <a:cs typeface="Google Sans Flex"/>
                <a:sym typeface="Google Sans Flex"/>
              </a:rPr>
              <a:t>Gemini 3.5 Flash-Lite; steps it can match with certainty skip the model entirely</a:t>
            </a:r>
          </a:p>
        </p:txBody>
      </p:sp>
      <p:sp>
        <p:nvSpPr>
          <p:cNvPr id="152" name="stat 3"/>
          <p:cNvSpPr/>
          <p:nvPr/>
        </p:nvSpPr>
        <p:spPr>
          <a:xfrm>
            <a:off x="4654296" y="1078992"/>
            <a:ext cx="1970532" cy="2514600"/>
          </a:xfrm>
          <a:prstGeom prst="roundRect">
            <a:avLst>
              <a:gd name="adj" fmla="val 6000"/>
            </a:avLst>
          </a:prstGeom>
          <a:solidFill>
            <a:srgbClr val="F4F5F7"/>
          </a:solidFill>
          <a:ln>
            <a:noFill/>
          </a:ln>
        </p:spPr>
        <p:txBody>
          <a:bodyPr rtlCol="0" anchor="ctr"/>
          <a:lstStyle/>
          <a:p/>
        </p:txBody>
      </p:sp>
      <p:sp>
        <p:nvSpPr>
          <p:cNvPr id="153" name="stat 3 value"/>
          <p:cNvSpPr txBox="1"/>
          <p:nvPr/>
        </p:nvSpPr>
        <p:spPr>
          <a:xfrm>
            <a:off x="4855464" y="1353312"/>
            <a:ext cx="1604772" cy="822960"/>
          </a:xfrm>
          <a:prstGeom prst="rect">
            <a:avLst/>
          </a:prstGeom>
          <a:noFill/>
        </p:spPr>
        <p:txBody>
          <a:bodyPr wrap="square" lIns="0" rIns="0" tIns="0" bIns="0" anchor="t"/>
          <a:lstStyle/>
          <a:p>
            <a:pPr algn="l"/>
            <a:r>
              <a:rPr sz="3400" b="0" i="0">
                <a:solidFill>
                  <a:srgbClr val="1E2228"/>
                </a:solidFill>
                <a:latin typeface="Google Sans Flex SemiBold"/>
                <a:ea typeface="Google Sans Flex SemiBold"/>
                <a:cs typeface="Google Sans Flex SemiBold"/>
                <a:sym typeface="Google Sans Flex SemiBold"/>
              </a:rPr>
              <a:t>660×</a:t>
            </a:r>
          </a:p>
        </p:txBody>
      </p:sp>
      <p:sp>
        <p:nvSpPr>
          <p:cNvPr id="154" name="stat 3 label"/>
          <p:cNvSpPr txBox="1"/>
          <p:nvPr/>
        </p:nvSpPr>
        <p:spPr>
          <a:xfrm>
            <a:off x="4855464" y="2176272"/>
            <a:ext cx="1604772"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faster element matching</a:t>
            </a:r>
          </a:p>
        </p:txBody>
      </p:sp>
      <p:sp>
        <p:nvSpPr>
          <p:cNvPr id="155" name="stat 3 sub"/>
          <p:cNvSpPr txBox="1"/>
          <p:nvPr/>
        </p:nvSpPr>
        <p:spPr>
          <a:xfrm>
            <a:off x="4855464" y="2615184"/>
            <a:ext cx="1604772" cy="914400"/>
          </a:xfrm>
          <a:prstGeom prst="rect">
            <a:avLst/>
          </a:prstGeom>
          <a:noFill/>
        </p:spPr>
        <p:txBody>
          <a:bodyPr wrap="square" lIns="0" rIns="0" tIns="0" bIns="0" anchor="t"/>
          <a:lstStyle/>
          <a:p>
            <a:pPr algn="l">
              <a:lnSpc>
                <a:spcPct val="110000"/>
              </a:lnSpc>
            </a:pPr>
            <a:r>
              <a:rPr sz="950" b="0" i="0">
                <a:solidFill>
                  <a:srgbClr val="5B6270"/>
                </a:solidFill>
                <a:latin typeface="Google Sans Flex"/>
                <a:ea typeface="Google Sans Flex"/>
                <a:cs typeface="Google Sans Flex"/>
                <a:sym typeface="Google Sans Flex"/>
              </a:rPr>
              <a:t>600 controls: 79.8 s → 121 ms after a one-pass rewrite</a:t>
            </a:r>
          </a:p>
        </p:txBody>
      </p:sp>
      <p:sp>
        <p:nvSpPr>
          <p:cNvPr id="156" name="stat 4"/>
          <p:cNvSpPr/>
          <p:nvPr/>
        </p:nvSpPr>
        <p:spPr>
          <a:xfrm>
            <a:off x="6789420" y="1078992"/>
            <a:ext cx="1970532" cy="2514600"/>
          </a:xfrm>
          <a:prstGeom prst="roundRect">
            <a:avLst>
              <a:gd name="adj" fmla="val 6000"/>
            </a:avLst>
          </a:prstGeom>
          <a:solidFill>
            <a:srgbClr val="F4F5F7"/>
          </a:solidFill>
          <a:ln>
            <a:noFill/>
          </a:ln>
        </p:spPr>
        <p:txBody>
          <a:bodyPr rtlCol="0" anchor="ctr"/>
          <a:lstStyle/>
          <a:p/>
        </p:txBody>
      </p:sp>
      <p:sp>
        <p:nvSpPr>
          <p:cNvPr id="157" name="stat 4 value"/>
          <p:cNvSpPr txBox="1"/>
          <p:nvPr/>
        </p:nvSpPr>
        <p:spPr>
          <a:xfrm>
            <a:off x="6990588" y="1353312"/>
            <a:ext cx="1604772" cy="822960"/>
          </a:xfrm>
          <a:prstGeom prst="rect">
            <a:avLst/>
          </a:prstGeom>
          <a:noFill/>
        </p:spPr>
        <p:txBody>
          <a:bodyPr wrap="square" lIns="0" rIns="0" tIns="0" bIns="0" anchor="t"/>
          <a:lstStyle/>
          <a:p>
            <a:pPr algn="l"/>
            <a:r>
              <a:rPr sz="3400" b="0" i="0">
                <a:solidFill>
                  <a:srgbClr val="1E2228"/>
                </a:solidFill>
                <a:latin typeface="Google Sans Flex SemiBold"/>
                <a:ea typeface="Google Sans Flex SemiBold"/>
                <a:cs typeface="Google Sans Flex SemiBold"/>
                <a:sym typeface="Google Sans Flex SemiBold"/>
              </a:rPr>
              <a:t>6 / 6</a:t>
            </a:r>
          </a:p>
        </p:txBody>
      </p:sp>
      <p:sp>
        <p:nvSpPr>
          <p:cNvPr id="158" name="stat 4 label"/>
          <p:cNvSpPr txBox="1"/>
          <p:nvPr/>
        </p:nvSpPr>
        <p:spPr>
          <a:xfrm>
            <a:off x="6990588" y="2176272"/>
            <a:ext cx="1604772" cy="457200"/>
          </a:xfrm>
          <a:prstGeom prst="rect">
            <a:avLst/>
          </a:prstGeom>
          <a:noFill/>
        </p:spPr>
        <p:txBody>
          <a:bodyPr wrap="square" lIns="0" rIns="0" tIns="0" bIns="0" anchor="t"/>
          <a:lstStyle/>
          <a:p>
            <a:pPr algn="l"/>
            <a:r>
              <a:rPr sz="1200" b="0" i="0">
                <a:solidFill>
                  <a:srgbClr val="1E2228"/>
                </a:solidFill>
                <a:latin typeface="Google Sans Flex SemiBold"/>
                <a:ea typeface="Google Sans Flex SemiBold"/>
                <a:cs typeface="Google Sans Flex SemiBold"/>
                <a:sym typeface="Google Sans Flex SemiBold"/>
              </a:rPr>
              <a:t>compile judgments correct</a:t>
            </a:r>
          </a:p>
        </p:txBody>
      </p:sp>
      <p:sp>
        <p:nvSpPr>
          <p:cNvPr id="159" name="stat 4 sub"/>
          <p:cNvSpPr txBox="1"/>
          <p:nvPr/>
        </p:nvSpPr>
        <p:spPr>
          <a:xfrm>
            <a:off x="6990588" y="2615184"/>
            <a:ext cx="1604772" cy="914400"/>
          </a:xfrm>
          <a:prstGeom prst="rect">
            <a:avLst/>
          </a:prstGeom>
          <a:noFill/>
        </p:spPr>
        <p:txBody>
          <a:bodyPr wrap="square" lIns="0" rIns="0" tIns="0" bIns="0" anchor="t"/>
          <a:lstStyle/>
          <a:p>
            <a:pPr algn="l">
              <a:lnSpc>
                <a:spcPct val="110000"/>
              </a:lnSpc>
            </a:pPr>
            <a:r>
              <a:rPr sz="950" b="0" i="0">
                <a:solidFill>
                  <a:srgbClr val="5B6270"/>
                </a:solidFill>
                <a:latin typeface="Google Sans Flex"/>
                <a:ea typeface="Google Sans Flex"/>
                <a:cs typeface="Google Sans Flex"/>
                <a:sym typeface="Google Sans Flex"/>
              </a:rPr>
              <a:t>Gemini 3.8 Flash on our golden set, vs 3 / 6 for a Pro model</a:t>
            </a:r>
          </a:p>
        </p:txBody>
      </p:sp>
      <p:sp>
        <p:nvSpPr>
          <p:cNvPr id="160" name="perf note box"/>
          <p:cNvSpPr/>
          <p:nvPr/>
        </p:nvSpPr>
        <p:spPr>
          <a:xfrm>
            <a:off x="384048" y="3776472"/>
            <a:ext cx="8375904" cy="868680"/>
          </a:xfrm>
          <a:prstGeom prst="roundRect">
            <a:avLst>
              <a:gd name="adj" fmla="val 10000"/>
            </a:avLst>
          </a:prstGeom>
          <a:solidFill>
            <a:srgbClr val="FFFFFF"/>
          </a:solidFill>
          <a:ln w="9525">
            <a:solidFill>
              <a:srgbClr val="DDE0E5"/>
            </a:solidFill>
          </a:ln>
        </p:spPr>
        <p:txBody>
          <a:bodyPr rtlCol="0" anchor="ctr"/>
          <a:lstStyle/>
          <a:p/>
        </p:txBody>
      </p:sp>
      <p:sp>
        <p:nvSpPr>
          <p:cNvPr id="161" name="perf note"/>
          <p:cNvSpPr txBox="1"/>
          <p:nvPr/>
        </p:nvSpPr>
        <p:spPr>
          <a:xfrm>
            <a:off x="612648" y="3776472"/>
            <a:ext cx="7918704" cy="868680"/>
          </a:xfrm>
          <a:prstGeom prst="rect">
            <a:avLst/>
          </a:prstGeom>
          <a:noFill/>
        </p:spPr>
        <p:txBody>
          <a:bodyPr wrap="square" lIns="0" rIns="0" tIns="0" bIns="0" anchor="ctr"/>
          <a:lstStyle/>
          <a:p>
            <a:pPr algn="l"/>
            <a:r>
              <a:rPr sz="1100" b="0" i="0">
                <a:solidFill>
                  <a:srgbClr val="1E2228"/>
                </a:solidFill>
                <a:latin typeface="Google Sans Flex SemiBold"/>
                <a:ea typeface="Google Sans Flex SemiBold"/>
                <a:cs typeface="Google Sans Flex SemiBold"/>
                <a:sym typeface="Google Sans Flex SemiBold"/>
              </a:rPr>
              <a:t>Verified live: </a:t>
            </a:r>
            <a:r>
              <a:rPr sz="1100" b="0" i="0">
                <a:solidFill>
                  <a:srgbClr val="1E2228"/>
                </a:solidFill>
                <a:latin typeface="Google Sans Flex"/>
                <a:ea typeface="Google Sans Flex"/>
                <a:cs typeface="Google Sans Flex"/>
                <a:sym typeface="Google Sans Flex"/>
              </a:rPr>
              <a:t>a YouTube theme change and a Gmail compose-and-send, each recorded once and run end to end in a receiver’s browser. Creating a link takes 1.5–3 minutes, once, while Gemini compiles the recording and the rules.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03504"/>
            <a:ext cx="8943000"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b="0" i="0">
                <a:solidFill>
                  <a:srgbClr val="1E2228"/>
                </a:solidFill>
                <a:latin typeface="Google Sans Flex SemiBold"/>
                <a:ea typeface="Google Sans Flex SemiBold"/>
                <a:cs typeface="Google Sans Flex SemiBold"/>
                <a:sym typeface="Google Sans Flex SemiBold"/>
              </a:rPr>
              <a:t>Future development</a:t>
            </a:r>
            <a:endParaRPr sz="1600">
              <a:latin typeface="Google Sans Flex Medium"/>
              <a:ea typeface="Google Sans Flex Medium"/>
              <a:cs typeface="Google Sans Flex Medium"/>
              <a:sym typeface="Google Sans Flex Medium"/>
            </a:endParaRPr>
          </a:p>
        </p:txBody>
      </p:sp>
      <p:sp>
        <p:nvSpPr>
          <p:cNvPr id="152" name="future 1"/>
          <p:cNvSpPr/>
          <p:nvPr/>
        </p:nvSpPr>
        <p:spPr>
          <a:xfrm>
            <a:off x="384048" y="1078992"/>
            <a:ext cx="4050792" cy="1024128"/>
          </a:xfrm>
          <a:prstGeom prst="roundRect">
            <a:avLst>
              <a:gd name="adj" fmla="val 10000"/>
            </a:avLst>
          </a:prstGeom>
          <a:solidFill>
            <a:srgbClr val="F4F5F7"/>
          </a:solidFill>
          <a:ln>
            <a:noFill/>
          </a:ln>
        </p:spPr>
        <p:txBody>
          <a:bodyPr rtlCol="0" anchor="ctr"/>
          <a:lstStyle/>
          <a:p/>
        </p:txBody>
      </p:sp>
      <p:sp>
        <p:nvSpPr>
          <p:cNvPr id="153" name="future 1 node"/>
          <p:cNvSpPr/>
          <p:nvPr/>
        </p:nvSpPr>
        <p:spPr>
          <a:xfrm>
            <a:off x="594360" y="1453896"/>
            <a:ext cx="274320" cy="274320"/>
          </a:xfrm>
          <a:prstGeom prst="ellipse">
            <a:avLst/>
          </a:prstGeom>
          <a:solidFill>
            <a:srgbClr val="0B8F6E"/>
          </a:solidFill>
          <a:ln>
            <a:noFill/>
          </a:ln>
        </p:spPr>
        <p:txBody>
          <a:bodyPr rtlCol="0" anchor="ctr" lIns="0" rIns="0" tIns="0" bIns="0"/>
          <a:lstStyle/>
          <a:p>
            <a:pPr algn="ctr"/>
            <a:r>
              <a:rPr sz="900" b="1" i="0">
                <a:solidFill>
                  <a:srgbClr val="FFFFFF"/>
                </a:solidFill>
                <a:latin typeface="Roboto Mono"/>
                <a:ea typeface="Roboto Mono"/>
                <a:cs typeface="Roboto Mono"/>
                <a:sym typeface="Roboto Mono"/>
              </a:rPr>
              <a:t>1</a:t>
            </a:r>
          </a:p>
        </p:txBody>
      </p:sp>
      <p:sp>
        <p:nvSpPr>
          <p:cNvPr id="154" name="future 1 text"/>
          <p:cNvSpPr txBox="1"/>
          <p:nvPr/>
        </p:nvSpPr>
        <p:spPr>
          <a:xfrm>
            <a:off x="1042416" y="1261872"/>
            <a:ext cx="3227832" cy="685800"/>
          </a:xfrm>
          <a:prstGeom prst="rect">
            <a:avLst/>
          </a:prstGeom>
          <a:noFill/>
        </p:spPr>
        <p:txBody>
          <a:bodyPr wrap="square" lIns="0" rIns="0" tIns="0" bIns="0" anchor="ctr"/>
          <a:lstStyle/>
          <a:p>
            <a:pPr algn="l"/>
            <a:r>
              <a:rPr sz="1300" b="0" i="0">
                <a:solidFill>
                  <a:srgbClr val="1E2228"/>
                </a:solidFill>
                <a:latin typeface="Google Sans Flex SemiBold"/>
                <a:ea typeface="Google Sans Flex SemiBold"/>
                <a:cs typeface="Google Sans Flex SemiBold"/>
                <a:sym typeface="Google Sans Flex SemiBold"/>
              </a:rPr>
              <a:t>Chrome Web Store listing</a:t>
            </a:r>
          </a:p>
          <a:p>
            <a:pPr algn="l"/>
            <a:r>
              <a:rPr sz="1050" b="0" i="0">
                <a:solidFill>
                  <a:srgbClr val="5B6270"/>
                </a:solidFill>
                <a:latin typeface="Google Sans Flex"/>
                <a:ea typeface="Google Sans Flex"/>
                <a:cs typeface="Google Sans Flex"/>
                <a:sym typeface="Google Sans Flex"/>
              </a:rPr>
              <a:t>one-click install instead of developer mode</a:t>
            </a:r>
          </a:p>
        </p:txBody>
      </p:sp>
      <p:sp>
        <p:nvSpPr>
          <p:cNvPr id="155" name="future 2"/>
          <p:cNvSpPr/>
          <p:nvPr/>
        </p:nvSpPr>
        <p:spPr>
          <a:xfrm>
            <a:off x="384048" y="2286000"/>
            <a:ext cx="4050792" cy="1024128"/>
          </a:xfrm>
          <a:prstGeom prst="roundRect">
            <a:avLst>
              <a:gd name="adj" fmla="val 10000"/>
            </a:avLst>
          </a:prstGeom>
          <a:solidFill>
            <a:srgbClr val="F4F5F7"/>
          </a:solidFill>
          <a:ln>
            <a:noFill/>
          </a:ln>
        </p:spPr>
        <p:txBody>
          <a:bodyPr rtlCol="0" anchor="ctr"/>
          <a:lstStyle/>
          <a:p/>
        </p:txBody>
      </p:sp>
      <p:sp>
        <p:nvSpPr>
          <p:cNvPr id="156" name="future 2 node"/>
          <p:cNvSpPr/>
          <p:nvPr/>
        </p:nvSpPr>
        <p:spPr>
          <a:xfrm>
            <a:off x="594360" y="2660904"/>
            <a:ext cx="274320" cy="274320"/>
          </a:xfrm>
          <a:prstGeom prst="ellipse">
            <a:avLst/>
          </a:prstGeom>
          <a:solidFill>
            <a:srgbClr val="0D0F13"/>
          </a:solidFill>
          <a:ln>
            <a:noFill/>
          </a:ln>
        </p:spPr>
        <p:txBody>
          <a:bodyPr rtlCol="0" anchor="ctr" lIns="0" rIns="0" tIns="0" bIns="0"/>
          <a:lstStyle/>
          <a:p>
            <a:pPr algn="ctr"/>
            <a:r>
              <a:rPr sz="900" b="1" i="0">
                <a:solidFill>
                  <a:srgbClr val="FFFFFF"/>
                </a:solidFill>
                <a:latin typeface="Roboto Mono"/>
                <a:ea typeface="Roboto Mono"/>
                <a:cs typeface="Roboto Mono"/>
                <a:sym typeface="Roboto Mono"/>
              </a:rPr>
              <a:t>2</a:t>
            </a:r>
          </a:p>
        </p:txBody>
      </p:sp>
      <p:sp>
        <p:nvSpPr>
          <p:cNvPr id="157" name="future 2 text"/>
          <p:cNvSpPr txBox="1"/>
          <p:nvPr/>
        </p:nvSpPr>
        <p:spPr>
          <a:xfrm>
            <a:off x="1042416" y="2468880"/>
            <a:ext cx="3227832" cy="685800"/>
          </a:xfrm>
          <a:prstGeom prst="rect">
            <a:avLst/>
          </a:prstGeom>
          <a:noFill/>
        </p:spPr>
        <p:txBody>
          <a:bodyPr wrap="square" lIns="0" rIns="0" tIns="0" bIns="0" anchor="ctr"/>
          <a:lstStyle/>
          <a:p>
            <a:pPr algn="l"/>
            <a:r>
              <a:rPr sz="1300" b="0" i="0">
                <a:solidFill>
                  <a:srgbClr val="1E2228"/>
                </a:solidFill>
                <a:latin typeface="Google Sans Flex SemiBold"/>
                <a:ea typeface="Google Sans Flex SemiBold"/>
                <a:cs typeface="Google Sans Flex SemiBold"/>
                <a:sym typeface="Google Sans Flex SemiBold"/>
              </a:rPr>
              <a:t>Approvals where people work</a:t>
            </a:r>
          </a:p>
          <a:p>
            <a:pPr algn="l"/>
            <a:r>
              <a:rPr sz="1050" b="0" i="0">
                <a:solidFill>
                  <a:srgbClr val="5B6270"/>
                </a:solidFill>
                <a:latin typeface="Google Sans Flex"/>
                <a:ea typeface="Google Sans Flex"/>
                <a:cs typeface="Google Sans Flex"/>
                <a:sym typeface="Google Sans Flex"/>
              </a:rPr>
              <a:t>“ask me before sending” routed to Slack or email</a:t>
            </a:r>
          </a:p>
        </p:txBody>
      </p:sp>
      <p:sp>
        <p:nvSpPr>
          <p:cNvPr id="158" name="future 3"/>
          <p:cNvSpPr/>
          <p:nvPr/>
        </p:nvSpPr>
        <p:spPr>
          <a:xfrm>
            <a:off x="384048" y="3493008"/>
            <a:ext cx="4050792" cy="1024128"/>
          </a:xfrm>
          <a:prstGeom prst="roundRect">
            <a:avLst>
              <a:gd name="adj" fmla="val 10000"/>
            </a:avLst>
          </a:prstGeom>
          <a:solidFill>
            <a:srgbClr val="F4F5F7"/>
          </a:solidFill>
          <a:ln>
            <a:noFill/>
          </a:ln>
        </p:spPr>
        <p:txBody>
          <a:bodyPr rtlCol="0" anchor="ctr"/>
          <a:lstStyle/>
          <a:p/>
        </p:txBody>
      </p:sp>
      <p:sp>
        <p:nvSpPr>
          <p:cNvPr id="159" name="future 3 node"/>
          <p:cNvSpPr/>
          <p:nvPr/>
        </p:nvSpPr>
        <p:spPr>
          <a:xfrm>
            <a:off x="594360" y="3867912"/>
            <a:ext cx="274320" cy="274320"/>
          </a:xfrm>
          <a:prstGeom prst="ellipse">
            <a:avLst/>
          </a:prstGeom>
          <a:solidFill>
            <a:srgbClr val="0D0F13"/>
          </a:solidFill>
          <a:ln>
            <a:noFill/>
          </a:ln>
        </p:spPr>
        <p:txBody>
          <a:bodyPr rtlCol="0" anchor="ctr" lIns="0" rIns="0" tIns="0" bIns="0"/>
          <a:lstStyle/>
          <a:p>
            <a:pPr algn="ctr"/>
            <a:r>
              <a:rPr sz="900" b="1" i="0">
                <a:solidFill>
                  <a:srgbClr val="FFFFFF"/>
                </a:solidFill>
                <a:latin typeface="Roboto Mono"/>
                <a:ea typeface="Roboto Mono"/>
                <a:cs typeface="Roboto Mono"/>
                <a:sym typeface="Roboto Mono"/>
              </a:rPr>
              <a:t>3</a:t>
            </a:r>
          </a:p>
        </p:txBody>
      </p:sp>
      <p:sp>
        <p:nvSpPr>
          <p:cNvPr id="160" name="future 3 text"/>
          <p:cNvSpPr txBox="1"/>
          <p:nvPr/>
        </p:nvSpPr>
        <p:spPr>
          <a:xfrm>
            <a:off x="1042416" y="3675888"/>
            <a:ext cx="3227832" cy="685800"/>
          </a:xfrm>
          <a:prstGeom prst="rect">
            <a:avLst/>
          </a:prstGeom>
          <a:noFill/>
        </p:spPr>
        <p:txBody>
          <a:bodyPr wrap="square" lIns="0" rIns="0" tIns="0" bIns="0" anchor="ctr"/>
          <a:lstStyle/>
          <a:p>
            <a:pPr algn="l"/>
            <a:r>
              <a:rPr sz="1300" b="0" i="0">
                <a:solidFill>
                  <a:srgbClr val="1E2228"/>
                </a:solidFill>
                <a:latin typeface="Google Sans Flex SemiBold"/>
                <a:ea typeface="Google Sans Flex SemiBold"/>
                <a:cs typeface="Google Sans Flex SemiBold"/>
                <a:sym typeface="Google Sans Flex SemiBold"/>
              </a:rPr>
              <a:t>Team libraries</a:t>
            </a:r>
          </a:p>
          <a:p>
            <a:pPr algn="l"/>
            <a:r>
              <a:rPr sz="1050" b="0" i="0">
                <a:solidFill>
                  <a:srgbClr val="5B6270"/>
                </a:solidFill>
                <a:latin typeface="Google Sans Flex"/>
                <a:ea typeface="Google Sans Flex"/>
                <a:cs typeface="Google Sans Flex"/>
                <a:sym typeface="Google Sans Flex"/>
              </a:rPr>
              <a:t>versioned links, owners, and who-ran-what across an organisation</a:t>
            </a:r>
          </a:p>
        </p:txBody>
      </p:sp>
      <p:sp>
        <p:nvSpPr>
          <p:cNvPr id="161" name="future 4"/>
          <p:cNvSpPr/>
          <p:nvPr/>
        </p:nvSpPr>
        <p:spPr>
          <a:xfrm>
            <a:off x="4709160" y="1078992"/>
            <a:ext cx="4050792" cy="1024128"/>
          </a:xfrm>
          <a:prstGeom prst="roundRect">
            <a:avLst>
              <a:gd name="adj" fmla="val 10000"/>
            </a:avLst>
          </a:prstGeom>
          <a:solidFill>
            <a:srgbClr val="F4F5F7"/>
          </a:solidFill>
          <a:ln>
            <a:noFill/>
          </a:ln>
        </p:spPr>
        <p:txBody>
          <a:bodyPr rtlCol="0" anchor="ctr"/>
          <a:lstStyle/>
          <a:p/>
        </p:txBody>
      </p:sp>
      <p:sp>
        <p:nvSpPr>
          <p:cNvPr id="162" name="future 4 node"/>
          <p:cNvSpPr/>
          <p:nvPr/>
        </p:nvSpPr>
        <p:spPr>
          <a:xfrm>
            <a:off x="4919472" y="1453896"/>
            <a:ext cx="274320" cy="274320"/>
          </a:xfrm>
          <a:prstGeom prst="ellipse">
            <a:avLst/>
          </a:prstGeom>
          <a:solidFill>
            <a:srgbClr val="0D0F13"/>
          </a:solidFill>
          <a:ln>
            <a:noFill/>
          </a:ln>
        </p:spPr>
        <p:txBody>
          <a:bodyPr rtlCol="0" anchor="ctr" lIns="0" rIns="0" tIns="0" bIns="0"/>
          <a:lstStyle/>
          <a:p>
            <a:pPr algn="ctr"/>
            <a:r>
              <a:rPr sz="900" b="1" i="0">
                <a:solidFill>
                  <a:srgbClr val="FFFFFF"/>
                </a:solidFill>
                <a:latin typeface="Roboto Mono"/>
                <a:ea typeface="Roboto Mono"/>
                <a:cs typeface="Roboto Mono"/>
                <a:sym typeface="Roboto Mono"/>
              </a:rPr>
              <a:t>4</a:t>
            </a:r>
          </a:p>
        </p:txBody>
      </p:sp>
      <p:sp>
        <p:nvSpPr>
          <p:cNvPr id="163" name="future 4 text"/>
          <p:cNvSpPr txBox="1"/>
          <p:nvPr/>
        </p:nvSpPr>
        <p:spPr>
          <a:xfrm>
            <a:off x="5367528" y="1261872"/>
            <a:ext cx="3227832" cy="685800"/>
          </a:xfrm>
          <a:prstGeom prst="rect">
            <a:avLst/>
          </a:prstGeom>
          <a:noFill/>
        </p:spPr>
        <p:txBody>
          <a:bodyPr wrap="square" lIns="0" rIns="0" tIns="0" bIns="0" anchor="ctr"/>
          <a:lstStyle/>
          <a:p>
            <a:pPr algn="l"/>
            <a:r>
              <a:rPr sz="1300" b="0" i="0">
                <a:solidFill>
                  <a:srgbClr val="1E2228"/>
                </a:solidFill>
                <a:latin typeface="Google Sans Flex SemiBold"/>
                <a:ea typeface="Google Sans Flex SemiBold"/>
                <a:cs typeface="Google Sans Flex SemiBold"/>
                <a:sym typeface="Google Sans Flex SemiBold"/>
              </a:rPr>
              <a:t>Admin guardrails</a:t>
            </a:r>
          </a:p>
          <a:p>
            <a:pPr algn="l"/>
            <a:r>
              <a:rPr sz="1050" b="0" i="0">
                <a:solidFill>
                  <a:srgbClr val="5B6270"/>
                </a:solidFill>
                <a:latin typeface="Google Sans Flex"/>
                <a:ea typeface="Google Sans Flex"/>
                <a:cs typeface="Google Sans Flex"/>
                <a:sym typeface="Google Sans Flex"/>
              </a:rPr>
              <a:t>org-wide rules that every link inherits, on top of the creator’s</a:t>
            </a:r>
          </a:p>
        </p:txBody>
      </p:sp>
      <p:sp>
        <p:nvSpPr>
          <p:cNvPr id="164" name="future 5"/>
          <p:cNvSpPr/>
          <p:nvPr/>
        </p:nvSpPr>
        <p:spPr>
          <a:xfrm>
            <a:off x="4709160" y="2286000"/>
            <a:ext cx="4050792" cy="1024128"/>
          </a:xfrm>
          <a:prstGeom prst="roundRect">
            <a:avLst>
              <a:gd name="adj" fmla="val 10000"/>
            </a:avLst>
          </a:prstGeom>
          <a:solidFill>
            <a:srgbClr val="F4F5F7"/>
          </a:solidFill>
          <a:ln>
            <a:noFill/>
          </a:ln>
        </p:spPr>
        <p:txBody>
          <a:bodyPr rtlCol="0" anchor="ctr"/>
          <a:lstStyle/>
          <a:p/>
        </p:txBody>
      </p:sp>
      <p:sp>
        <p:nvSpPr>
          <p:cNvPr id="165" name="future 5 node"/>
          <p:cNvSpPr/>
          <p:nvPr/>
        </p:nvSpPr>
        <p:spPr>
          <a:xfrm>
            <a:off x="4919472" y="2660904"/>
            <a:ext cx="274320" cy="274320"/>
          </a:xfrm>
          <a:prstGeom prst="ellipse">
            <a:avLst/>
          </a:prstGeom>
          <a:solidFill>
            <a:srgbClr val="0D0F13"/>
          </a:solidFill>
          <a:ln>
            <a:noFill/>
          </a:ln>
        </p:spPr>
        <p:txBody>
          <a:bodyPr rtlCol="0" anchor="ctr" lIns="0" rIns="0" tIns="0" bIns="0"/>
          <a:lstStyle/>
          <a:p>
            <a:pPr algn="ctr"/>
            <a:r>
              <a:rPr sz="900" b="1" i="0">
                <a:solidFill>
                  <a:srgbClr val="FFFFFF"/>
                </a:solidFill>
                <a:latin typeface="Roboto Mono"/>
                <a:ea typeface="Roboto Mono"/>
                <a:cs typeface="Roboto Mono"/>
                <a:sym typeface="Roboto Mono"/>
              </a:rPr>
              <a:t>5</a:t>
            </a:r>
          </a:p>
        </p:txBody>
      </p:sp>
      <p:sp>
        <p:nvSpPr>
          <p:cNvPr id="166" name="future 5 text"/>
          <p:cNvSpPr txBox="1"/>
          <p:nvPr/>
        </p:nvSpPr>
        <p:spPr>
          <a:xfrm>
            <a:off x="5367528" y="2468880"/>
            <a:ext cx="3227832" cy="685800"/>
          </a:xfrm>
          <a:prstGeom prst="rect">
            <a:avLst/>
          </a:prstGeom>
          <a:noFill/>
        </p:spPr>
        <p:txBody>
          <a:bodyPr wrap="square" lIns="0" rIns="0" tIns="0" bIns="0" anchor="ctr"/>
          <a:lstStyle/>
          <a:p>
            <a:pPr algn="l"/>
            <a:r>
              <a:rPr sz="1300" b="0" i="0">
                <a:solidFill>
                  <a:srgbClr val="1E2228"/>
                </a:solidFill>
                <a:latin typeface="Google Sans Flex SemiBold"/>
                <a:ea typeface="Google Sans Flex SemiBold"/>
                <a:cs typeface="Google Sans Flex SemiBold"/>
                <a:sym typeface="Google Sans Flex SemiBold"/>
              </a:rPr>
              <a:t>Scale-out runs</a:t>
            </a:r>
          </a:p>
          <a:p>
            <a:pPr algn="l"/>
            <a:r>
              <a:rPr sz="1050" b="0" i="0">
                <a:solidFill>
                  <a:srgbClr val="5B6270"/>
                </a:solidFill>
                <a:latin typeface="Google Sans Flex"/>
                <a:ea typeface="Google Sans Flex"/>
                <a:cs typeface="Google Sans Flex"/>
                <a:sym typeface="Google Sans Flex"/>
              </a:rPr>
              <a:t>run state in Firestore so the agent scales horizontally</a:t>
            </a:r>
          </a:p>
        </p:txBody>
      </p:sp>
      <p:sp>
        <p:nvSpPr>
          <p:cNvPr id="167" name="future 6"/>
          <p:cNvSpPr/>
          <p:nvPr/>
        </p:nvSpPr>
        <p:spPr>
          <a:xfrm>
            <a:off x="4709160" y="3493008"/>
            <a:ext cx="4050792" cy="1024128"/>
          </a:xfrm>
          <a:prstGeom prst="roundRect">
            <a:avLst>
              <a:gd name="adj" fmla="val 10000"/>
            </a:avLst>
          </a:prstGeom>
          <a:solidFill>
            <a:srgbClr val="F4F5F7"/>
          </a:solidFill>
          <a:ln>
            <a:noFill/>
          </a:ln>
        </p:spPr>
        <p:txBody>
          <a:bodyPr rtlCol="0" anchor="ctr"/>
          <a:lstStyle/>
          <a:p/>
        </p:txBody>
      </p:sp>
      <p:sp>
        <p:nvSpPr>
          <p:cNvPr id="168" name="future 6 node"/>
          <p:cNvSpPr/>
          <p:nvPr/>
        </p:nvSpPr>
        <p:spPr>
          <a:xfrm>
            <a:off x="4919472" y="3867912"/>
            <a:ext cx="274320" cy="274320"/>
          </a:xfrm>
          <a:prstGeom prst="ellipse">
            <a:avLst/>
          </a:prstGeom>
          <a:solidFill>
            <a:srgbClr val="0D0F13"/>
          </a:solidFill>
          <a:ln>
            <a:noFill/>
          </a:ln>
        </p:spPr>
        <p:txBody>
          <a:bodyPr rtlCol="0" anchor="ctr" lIns="0" rIns="0" tIns="0" bIns="0"/>
          <a:lstStyle/>
          <a:p>
            <a:pPr algn="ctr"/>
            <a:r>
              <a:rPr sz="900" b="1" i="0">
                <a:solidFill>
                  <a:srgbClr val="FFFFFF"/>
                </a:solidFill>
                <a:latin typeface="Roboto Mono"/>
                <a:ea typeface="Roboto Mono"/>
                <a:cs typeface="Roboto Mono"/>
                <a:sym typeface="Roboto Mono"/>
              </a:rPr>
              <a:t>6</a:t>
            </a:r>
          </a:p>
        </p:txBody>
      </p:sp>
      <p:sp>
        <p:nvSpPr>
          <p:cNvPr id="169" name="future 6 text"/>
          <p:cNvSpPr txBox="1"/>
          <p:nvPr/>
        </p:nvSpPr>
        <p:spPr>
          <a:xfrm>
            <a:off x="5367528" y="3675888"/>
            <a:ext cx="3227832" cy="685800"/>
          </a:xfrm>
          <a:prstGeom prst="rect">
            <a:avLst/>
          </a:prstGeom>
          <a:noFill/>
        </p:spPr>
        <p:txBody>
          <a:bodyPr wrap="square" lIns="0" rIns="0" tIns="0" bIns="0" anchor="ctr"/>
          <a:lstStyle/>
          <a:p>
            <a:pPr algn="l"/>
            <a:r>
              <a:rPr sz="1300" b="0" i="0">
                <a:solidFill>
                  <a:srgbClr val="1E2228"/>
                </a:solidFill>
                <a:latin typeface="Google Sans Flex SemiBold"/>
                <a:ea typeface="Google Sans Flex SemiBold"/>
                <a:cs typeface="Google Sans Flex SemiBold"/>
                <a:sym typeface="Google Sans Flex SemiBold"/>
              </a:rPr>
              <a:t>Narrated recordings</a:t>
            </a:r>
          </a:p>
          <a:p>
            <a:pPr algn="l"/>
            <a:r>
              <a:rPr sz="1050" b="0" i="0">
                <a:solidFill>
                  <a:srgbClr val="5B6270"/>
                </a:solidFill>
                <a:latin typeface="Google Sans Flex"/>
                <a:ea typeface="Google Sans Flex"/>
                <a:cs typeface="Google Sans Flex"/>
                <a:sym typeface="Google Sans Flex"/>
              </a:rPr>
              <a:t>speak while recording; the reasons become part of the intent</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600" b="0" i="0">
                <a:solidFill>
                  <a:srgbClr val="1E2228"/>
                </a:solidFill>
                <a:latin typeface="Google Sans Flex SemiBold"/>
                <a:ea typeface="Google Sans Flex SemiBold"/>
                <a:cs typeface="Google Sans Flex SemiBold"/>
                <a:sym typeface="Google Sans Flex SemiBold"/>
              </a:rPr>
              <a:t>GitHub Public Repository: </a:t>
            </a:r>
            <a:r>
              <a:rPr lang="en-GB" sz="1400" b="0" i="0">
                <a:solidFill>
                  <a:srgbClr val="1E2228"/>
                </a:solidFill>
                <a:latin typeface="Google Sans Flex"/>
                <a:ea typeface="Google Sans Flex"/>
                <a:cs typeface="Google Sans Flex"/>
                <a:sym typeface="Google Sans Flex"/>
                <a:hlinkClick r:id="rId5"/>
              </a:rPr>
              <a:t>https://github.com/technicalclipper/Intent-Links</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600" b="0" i="0">
                <a:solidFill>
                  <a:srgbClr val="1E2228"/>
                </a:solidFill>
                <a:latin typeface="Google Sans Flex SemiBold"/>
                <a:ea typeface="Google Sans Flex SemiBold"/>
                <a:cs typeface="Google Sans Flex SemiBold"/>
                <a:sym typeface="Google Sans Flex SemiBold"/>
              </a:rPr>
              <a:t>Demo Video Link (3 Minutes): </a:t>
            </a:r>
            <a:r>
              <a:rPr lang="en-GB" sz="1400" b="0" i="1">
                <a:solidFill>
                  <a:srgbClr val="5B6270"/>
                </a:solidFill>
                <a:latin typeface="Google Sans Flex"/>
                <a:ea typeface="Google Sans Flex"/>
                <a:cs typeface="Google Sans Flex"/>
                <a:sym typeface="Google Sans Flex"/>
              </a:rPr>
              <a:t>to be added after recording</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600" b="0" i="0">
                <a:solidFill>
                  <a:srgbClr val="1E2228"/>
                </a:solidFill>
                <a:latin typeface="Google Sans Flex SemiBold"/>
                <a:ea typeface="Google Sans Flex SemiBold"/>
                <a:cs typeface="Google Sans Flex SemiBold"/>
                <a:sym typeface="Google Sans Flex SemiBold"/>
              </a:rPr>
              <a:t>Final Product Link: </a:t>
            </a:r>
            <a:r>
              <a:rPr lang="en-GB" sz="1400" b="0" i="0">
                <a:solidFill>
                  <a:srgbClr val="1E2228"/>
                </a:solidFill>
                <a:latin typeface="Google Sans Flex"/>
                <a:ea typeface="Google Sans Flex"/>
                <a:cs typeface="Google Sans Flex"/>
                <a:sym typeface="Google Sans Flex"/>
                <a:hlinkClick r:id="rId6"/>
              </a:rPr>
              <a:t>https://intentlink-api-938318821120.asia-south1.run.app</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60" name="judge hint"/>
          <p:cNvSpPr/>
          <p:nvPr/>
        </p:nvSpPr>
        <p:spPr>
          <a:xfrm>
            <a:off x="384048" y="2331720"/>
            <a:ext cx="8375904" cy="1143000"/>
          </a:xfrm>
          <a:prstGeom prst="roundRect">
            <a:avLst>
              <a:gd name="adj" fmla="val 8000"/>
            </a:avLst>
          </a:prstGeom>
          <a:solidFill>
            <a:srgbClr val="0D0F13"/>
          </a:solidFill>
          <a:ln>
            <a:noFill/>
          </a:ln>
        </p:spPr>
        <p:txBody>
          <a:bodyPr rtlCol="0" anchor="ctr"/>
          <a:lstStyle/>
          <a:p/>
        </p:txBody>
      </p:sp>
      <p:sp>
        <p:nvSpPr>
          <p:cNvPr id="161" name="judge hint node"/>
          <p:cNvSpPr/>
          <p:nvPr/>
        </p:nvSpPr>
        <p:spPr>
          <a:xfrm>
            <a:off x="658368" y="2761488"/>
            <a:ext cx="274320" cy="274320"/>
          </a:xfrm>
          <a:prstGeom prst="ellipse">
            <a:avLst/>
          </a:prstGeom>
          <a:solidFill>
            <a:srgbClr val="2DD4A7"/>
          </a:solidFill>
          <a:ln>
            <a:noFill/>
          </a:ln>
        </p:spPr>
        <p:txBody>
          <a:bodyPr rtlCol="0" anchor="ctr"/>
          <a:lstStyle/>
          <a:p>
            <a:pPr algn="ctr"/>
          </a:p>
        </p:txBody>
      </p:sp>
      <p:sp>
        <p:nvSpPr>
          <p:cNvPr id="162" name="judge hint text"/>
          <p:cNvSpPr txBox="1"/>
          <p:nvPr/>
        </p:nvSpPr>
        <p:spPr>
          <a:xfrm>
            <a:off x="1115568" y="2331720"/>
            <a:ext cx="7370064" cy="1143000"/>
          </a:xfrm>
          <a:prstGeom prst="rect">
            <a:avLst/>
          </a:prstGeom>
          <a:noFill/>
        </p:spPr>
        <p:txBody>
          <a:bodyPr wrap="square" lIns="0" rIns="0" tIns="0" bIns="0" anchor="ctr"/>
          <a:lstStyle/>
          <a:p>
            <a:pPr algn="l">
              <a:spcAft>
                <a:spcPts val="400"/>
              </a:spcAft>
            </a:pPr>
            <a:r>
              <a:rPr sz="1500" b="0" i="0">
                <a:solidFill>
                  <a:srgbClr val="FFFFFF"/>
                </a:solidFill>
                <a:latin typeface="Google Sans Flex SemiBold"/>
                <a:ea typeface="Google Sans Flex SemiBold"/>
                <a:cs typeface="Google Sans Flex SemiBold"/>
                <a:sym typeface="Google Sans Flex SemiBold"/>
              </a:rPr>
              <a:t>Try it in 2 minutes</a:t>
            </a:r>
          </a:p>
          <a:p>
            <a:pPr algn="l">
              <a:lnSpc>
                <a:spcPct val="112000"/>
              </a:lnSpc>
            </a:pPr>
            <a:r>
              <a:rPr sz="1100" b="0" i="0">
                <a:solidFill>
                  <a:srgbClr val="C3C8D1"/>
                </a:solidFill>
                <a:latin typeface="Google Sans Flex"/>
                <a:ea typeface="Google Sans Flex"/>
                <a:cs typeface="Google Sans Flex"/>
                <a:sym typeface="Google Sans Flex"/>
              </a:rPr>
              <a:t>Open the product link, download the extension, load it in Chrome, then open the YouTube demo link on the page and press Run. Your own agent switches YouTube’s theme, and can do nothing else.</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